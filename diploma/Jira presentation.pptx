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95" r:id="rId1"/>
  </p:sldMasterIdLst>
  <p:notesMasterIdLst>
    <p:notesMasterId r:id="rId12"/>
  </p:notesMasterIdLst>
  <p:sldIdLst>
    <p:sldId id="296" r:id="rId2"/>
    <p:sldId id="344" r:id="rId3"/>
    <p:sldId id="347" r:id="rId4"/>
    <p:sldId id="351" r:id="rId5"/>
    <p:sldId id="363" r:id="rId6"/>
    <p:sldId id="356" r:id="rId7"/>
    <p:sldId id="361" r:id="rId8"/>
    <p:sldId id="358" r:id="rId9"/>
    <p:sldId id="359" r:id="rId10"/>
    <p:sldId id="362" r:id="rId11"/>
  </p:sldIdLst>
  <p:sldSz cx="13439775" cy="7559675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24" userDrawn="1">
          <p15:clr>
            <a:srgbClr val="A4A3A4"/>
          </p15:clr>
        </p15:guide>
        <p15:guide id="2" pos="3303" userDrawn="1">
          <p15:clr>
            <a:srgbClr val="A4A3A4"/>
          </p15:clr>
        </p15:guide>
        <p15:guide id="3" orient="horz" pos="4422" userDrawn="1">
          <p15:clr>
            <a:srgbClr val="A4A3A4"/>
          </p15:clr>
        </p15:guide>
        <p15:guide id="4" pos="4687" userDrawn="1">
          <p15:clr>
            <a:srgbClr val="A4A3A4"/>
          </p15:clr>
        </p15:guide>
        <p15:guide id="5" pos="2986" userDrawn="1">
          <p15:clr>
            <a:srgbClr val="A4A3A4"/>
          </p15:clr>
        </p15:guide>
        <p15:guide id="6" orient="horz" pos="2154" userDrawn="1">
          <p15:clr>
            <a:srgbClr val="A4A3A4"/>
          </p15:clr>
        </p15:guide>
        <p15:guide id="7" orient="horz" pos="181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Горина Екатерина Леонидовна" initials="ГЕЛ" lastIdx="10" clrIdx="0">
    <p:extLst>
      <p:ext uri="{19B8F6BF-5375-455C-9EA6-DF929625EA0E}">
        <p15:presenceInfo xmlns:p15="http://schemas.microsoft.com/office/powerpoint/2012/main" userId="S-1-5-21-2542494797-2759003736-1566031932-20664" providerId="AD"/>
      </p:ext>
    </p:extLst>
  </p:cmAuthor>
  <p:cmAuthor id="2" name="Шевченко Владислав Сергеевич" initials="ШВС" lastIdx="1" clrIdx="1">
    <p:extLst>
      <p:ext uri="{19B8F6BF-5375-455C-9EA6-DF929625EA0E}">
        <p15:presenceInfo xmlns:p15="http://schemas.microsoft.com/office/powerpoint/2012/main" userId="S-1-5-21-2542494797-2759003736-1566031932-591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FF"/>
    <a:srgbClr val="FF0040"/>
    <a:srgbClr val="FF2D64"/>
    <a:srgbClr val="ACDFFF"/>
    <a:srgbClr val="D5F2FF"/>
    <a:srgbClr val="FFCEDB"/>
    <a:srgbClr val="FFF4E7"/>
    <a:srgbClr val="5A3434"/>
    <a:srgbClr val="D1D5DA"/>
    <a:srgbClr val="6817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Стиль из темы 2 - акцент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6374" autoAdjust="0"/>
  </p:normalViewPr>
  <p:slideViewPr>
    <p:cSldViewPr snapToObjects="1">
      <p:cViewPr varScale="1">
        <p:scale>
          <a:sx n="108" d="100"/>
          <a:sy n="108" d="100"/>
        </p:scale>
        <p:origin x="787" y="91"/>
      </p:cViewPr>
      <p:guideLst>
        <p:guide orient="horz" pos="1224"/>
        <p:guide pos="3303"/>
        <p:guide orient="horz" pos="4422"/>
        <p:guide pos="4687"/>
        <p:guide pos="2986"/>
        <p:guide orient="horz" pos="2154"/>
        <p:guide orient="horz" pos="18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8031-4423-81E4-F4094988A0FD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8031-4423-81E4-F4094988A0FD}"/>
              </c:ext>
            </c:extLst>
          </c:dPt>
          <c:dLbls>
            <c:dLbl>
              <c:idx val="0"/>
              <c:layout>
                <c:manualLayout>
                  <c:x val="-0.22738480606590844"/>
                  <c:y val="-5.0587664041994815E-2"/>
                </c:manualLayout>
              </c:layout>
              <c:tx>
                <c:rich>
                  <a:bodyPr/>
                  <a:lstStyle/>
                  <a:p>
                    <a:fld id="{403A191F-F73D-4BA6-8BBD-FD2E3FA11960}" type="CATEGORYNAME">
                      <a:rPr lang="en-US" sz="1300" baseline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rPr>
                      <a:pPr/>
                      <a:t>[ИМЯ КАТЕГОРИИ]</a:t>
                    </a:fld>
                    <a:r>
                      <a:rPr lang="en-US" sz="13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rPr>
                      <a:t>
</a:t>
                    </a:r>
                    <a:fld id="{697B84B4-2762-4F6A-A00E-CC2C81CF1F97}" type="VALUE">
                      <a:rPr lang="en-US" sz="1300" baseline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rPr>
                      <a:pPr/>
                      <a:t>[ЗНАЧЕНИЕ]</a:t>
                    </a:fld>
                    <a:r>
                      <a:rPr lang="en-US" sz="13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rPr>
                      <a:t>
</a:t>
                    </a:r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8031-4423-81E4-F4094988A0FD}"/>
                </c:ext>
              </c:extLst>
            </c:dLbl>
            <c:dLbl>
              <c:idx val="1"/>
              <c:layout>
                <c:manualLayout>
                  <c:x val="0.20578205502090016"/>
                  <c:y val="-7.0587664041994819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031-4423-81E4-F4094988A0F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Лист1!$A$2:$A$3</c:f>
              <c:strCache>
                <c:ptCount val="2"/>
                <c:pt idx="0">
                  <c:v>Jira </c:v>
                </c:pt>
                <c:pt idx="1">
                  <c:v>Другие компании</c:v>
                </c:pt>
              </c:strCache>
            </c:strRef>
          </c:cat>
          <c:val>
            <c:numRef>
              <c:f>Лист1!$B$2:$B$3</c:f>
              <c:numCache>
                <c:formatCode>0%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31-4423-81E4-F4094988A0FD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Битрикс24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Категория 1</c:v>
                </c:pt>
              </c:strCache>
            </c:strRef>
          </c:cat>
          <c:val>
            <c:numRef>
              <c:f>Лист1!$B$2</c:f>
              <c:numCache>
                <c:formatCode>0%</c:formatCode>
                <c:ptCount val="1"/>
                <c:pt idx="0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94-45A3-8D5E-A0F6E125CEB9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Yandex Tracker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Категория 1</c:v>
                </c:pt>
              </c:strCache>
            </c:strRef>
          </c:cat>
          <c:val>
            <c:numRef>
              <c:f>Лист1!$C$2</c:f>
              <c:numCache>
                <c:formatCode>0%</c:formatCode>
                <c:ptCount val="1"/>
                <c:pt idx="0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94-45A3-8D5E-A0F6E125CEB9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Kaiten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Категория 1</c:v>
                </c:pt>
              </c:strCache>
            </c:strRef>
          </c:cat>
          <c:val>
            <c:numRef>
              <c:f>Лист1!$D$2</c:f>
              <c:numCache>
                <c:formatCode>0%</c:formatCode>
                <c:ptCount val="1"/>
                <c:pt idx="0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F94-45A3-8D5E-A0F6E125CEB9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EvaTeam 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Категория 1</c:v>
                </c:pt>
              </c:strCache>
            </c:strRef>
          </c:cat>
          <c:val>
            <c:numRef>
              <c:f>Лист1!$E$2</c:f>
              <c:numCache>
                <c:formatCode>0%</c:formatCode>
                <c:ptCount val="1"/>
                <c:pt idx="0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F94-45A3-8D5E-A0F6E125CEB9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YouGile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Категория 1</c:v>
                </c:pt>
              </c:strCache>
            </c:strRef>
          </c:cat>
          <c:val>
            <c:numRef>
              <c:f>Лист1!$F$2</c:f>
              <c:numCache>
                <c:formatCode>0%</c:formatCode>
                <c:ptCount val="1"/>
                <c:pt idx="0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F94-45A3-8D5E-A0F6E125CEB9}"/>
            </c:ext>
          </c:extLst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Остальные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Категория 1</c:v>
                </c:pt>
              </c:strCache>
            </c:strRef>
          </c:cat>
          <c:val>
            <c:numRef>
              <c:f>Лист1!$G$2</c:f>
              <c:numCache>
                <c:formatCode>0%</c:formatCode>
                <c:ptCount val="1"/>
                <c:pt idx="0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F94-45A3-8D5E-A0F6E125CE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56900992"/>
        <c:axId val="656903392"/>
      </c:barChart>
      <c:catAx>
        <c:axId val="65690099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56903392"/>
        <c:crosses val="autoZero"/>
        <c:auto val="1"/>
        <c:lblAlgn val="ctr"/>
        <c:lblOffset val="100"/>
        <c:noMultiLvlLbl val="0"/>
      </c:catAx>
      <c:valAx>
        <c:axId val="656903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5690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2938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1pPr>
    <a:lvl2pPr marL="266870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2pPr>
    <a:lvl3pPr marL="533741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3pPr>
    <a:lvl4pPr marL="800610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4pPr>
    <a:lvl5pPr marL="1067480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5pPr>
    <a:lvl6pPr marL="1334351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6pPr>
    <a:lvl7pPr marL="1601220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7pPr>
    <a:lvl8pPr marL="1868090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8pPr>
    <a:lvl9pPr marL="2134959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48939" tIns="24469" rIns="48939" bIns="24469"/>
          <a:lstStyle/>
          <a:p>
            <a:endParaRPr lang="en-US">
              <a:latin typeface="TT Norms Regular" panose="02000503030000020003" pitchFamily="2" charset="-5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48939" tIns="24469" rIns="48939" bIns="24469"/>
          <a:lstStyle/>
          <a:p>
            <a:fld id="{F7021451-1387-4CA6-816F-3879F97B5CBC}" type="slidenum">
              <a:rPr lang="en-US">
                <a:latin typeface="TT Norms Regular" panose="02000503030000020003" pitchFamily="2" charset="-52"/>
              </a:rPr>
              <a:t>1</a:t>
            </a:fld>
            <a:endParaRPr lang="en-US">
              <a:latin typeface="TT Norms Regular" panose="02000503030000020003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645719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6402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7687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1479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BBA5E-2F62-4816-A355-79BA4410B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EFD3108-AF17-0E86-8222-F899B5041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829F63E-FB3A-6FBA-37FE-84ADAA313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6077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TT Norms Regular" panose="02000503030000020003" pitchFamily="2" charset="-5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T Norms Regular" panose="02000503030000020003" pitchFamily="2" charset="-52"/>
              </a:rPr>
              <a:t>6</a:t>
            </a:fld>
            <a:endParaRPr lang="en-US">
              <a:latin typeface="TT Norms Regular" panose="02000503030000020003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89805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TT Norms Regular" panose="02000503030000020003" pitchFamily="2" charset="-5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T Norms Regular" panose="02000503030000020003" pitchFamily="2" charset="-52"/>
              </a:rPr>
              <a:t>7</a:t>
            </a:fld>
            <a:endParaRPr lang="en-US">
              <a:latin typeface="TT Norms Regular" panose="02000503030000020003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897847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TT Norms Regular" panose="02000503030000020003" pitchFamily="2" charset="-5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T Norms Regular" panose="02000503030000020003" pitchFamily="2" charset="-52"/>
              </a:rPr>
              <a:t>8</a:t>
            </a:fld>
            <a:endParaRPr lang="en-US">
              <a:latin typeface="TT Norms Regular" panose="02000503030000020003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2868077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TT Norms Regular" panose="02000503030000020003" pitchFamily="2" charset="-5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T Norms Regular" panose="02000503030000020003" pitchFamily="2" charset="-52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Norms Regular" panose="02000503030000020003" pitchFamily="2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70585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48939" tIns="24469" rIns="48939" bIns="24469"/>
          <a:lstStyle/>
          <a:p>
            <a:endParaRPr lang="en-US">
              <a:latin typeface="TT Norms Regular" panose="02000503030000020003" pitchFamily="2" charset="-5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48939" tIns="24469" rIns="48939" bIns="24469"/>
          <a:lstStyle/>
          <a:p>
            <a:fld id="{F7021451-1387-4CA6-816F-3879F97B5CBC}" type="slidenum">
              <a:rPr lang="en-US">
                <a:latin typeface="TT Norms Regular" panose="02000503030000020003" pitchFamily="2" charset="-52"/>
              </a:rPr>
              <a:t>10</a:t>
            </a:fld>
            <a:endParaRPr lang="en-US">
              <a:latin typeface="TT Norms Regular" panose="02000503030000020003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99767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9972" y="1237197"/>
            <a:ext cx="1007983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9972" y="3970580"/>
            <a:ext cx="10079831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80620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9644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85" y="1884670"/>
            <a:ext cx="11591806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985" y="5059034"/>
            <a:ext cx="11591806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76971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3985" y="2012414"/>
            <a:ext cx="5711904" cy="479654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886" y="2012414"/>
            <a:ext cx="5711904" cy="479654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86578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735" y="402483"/>
            <a:ext cx="11591806" cy="146118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736" y="1853171"/>
            <a:ext cx="5685654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736" y="2761381"/>
            <a:ext cx="5685654" cy="40615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03886" y="1853171"/>
            <a:ext cx="5713655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03886" y="2761381"/>
            <a:ext cx="5713655" cy="40615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1168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41548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85752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736" y="503978"/>
            <a:ext cx="4334677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655" y="1088454"/>
            <a:ext cx="6803886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736" y="2267902"/>
            <a:ext cx="4334677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27625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736" y="503978"/>
            <a:ext cx="4334677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13655" y="1088454"/>
            <a:ext cx="6803886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736" y="2267902"/>
            <a:ext cx="4334677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62533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03113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17839" y="402483"/>
            <a:ext cx="2897951" cy="640647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3985" y="402483"/>
            <a:ext cx="8525857" cy="64064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02557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/>
          <p:cNvCxnSpPr/>
          <p:nvPr userDrawn="1"/>
        </p:nvCxnSpPr>
        <p:spPr>
          <a:xfrm flipH="1">
            <a:off x="-1673905" y="6357905"/>
            <a:ext cx="159579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2517765" y="-491224"/>
            <a:ext cx="3284045" cy="266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ШАБЛОН ЗАГОЛОВОЧНОГО СЛАЙДА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-1281524" y="-488377"/>
            <a:ext cx="2027846" cy="266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Пустое поле </a:t>
            </a:r>
          </a:p>
        </p:txBody>
      </p:sp>
      <p:cxnSp>
        <p:nvCxnSpPr>
          <p:cNvPr id="11" name="Прямая со стрелкой 10"/>
          <p:cNvCxnSpPr/>
          <p:nvPr userDrawn="1"/>
        </p:nvCxnSpPr>
        <p:spPr>
          <a:xfrm>
            <a:off x="-643126" y="-251203"/>
            <a:ext cx="1389447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 userDrawn="1"/>
        </p:nvCxnSpPr>
        <p:spPr>
          <a:xfrm>
            <a:off x="746322" y="-816429"/>
            <a:ext cx="0" cy="8164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 userDrawn="1"/>
        </p:nvCxnSpPr>
        <p:spPr>
          <a:xfrm flipH="1">
            <a:off x="751453" y="-442211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 userDrawn="1"/>
        </p:nvSpPr>
        <p:spPr>
          <a:xfrm>
            <a:off x="1022206" y="-626877"/>
            <a:ext cx="2027846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линия выравнивания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63346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СТРОЧНЫЙ ЗАГОЛОВОК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1D68A00E-77E9-4E17-AB6D-30B5DE412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69" y="289709"/>
            <a:ext cx="9556297" cy="108039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68000"/>
              </a:lnSpc>
              <a:defRPr lang="ru-RU" sz="6000" b="0" i="0" kern="0" spc="-175" dirty="0">
                <a:solidFill>
                  <a:srgbClr val="000000"/>
                </a:solidFill>
                <a:latin typeface="+mn-lt"/>
                <a:ea typeface="TT Norms Regular" pitchFamily="34" charset="-122"/>
                <a:cs typeface="TT Norms Regular" pitchFamily="34" charset="-120"/>
              </a:defRPr>
            </a:lvl1pPr>
          </a:lstStyle>
          <a:p>
            <a:endParaRPr lang="ru-RU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FC441A7C-FBCB-40D7-A333-00ED0AA615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679274" y="317539"/>
            <a:ext cx="246376" cy="195513"/>
          </a:xfrm>
          <a:prstGeom prst="rect">
            <a:avLst/>
          </a:prstGeom>
        </p:spPr>
      </p:pic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4C31DF66-FD31-40D2-86E3-859CBFE06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611383" y="7219479"/>
            <a:ext cx="313974" cy="128845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lang="ru-RU" sz="700" b="0" i="0" kern="0" spc="-44" smtClean="0">
                <a:solidFill>
                  <a:srgbClr val="757575"/>
                </a:solidFill>
                <a:latin typeface="+mn-lt"/>
                <a:ea typeface="TT Norms Regular" pitchFamily="34" charset="-122"/>
                <a:cs typeface="TT Norms Regular" pitchFamily="34" charset="-120"/>
              </a:defRPr>
            </a:lvl1pPr>
          </a:lstStyle>
          <a:p>
            <a:fld id="{77D613D0-6E26-43FB-BD47-70B2F75E669A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0" name="Прямая соединительная линия 9"/>
          <p:cNvCxnSpPr/>
          <p:nvPr userDrawn="1"/>
        </p:nvCxnSpPr>
        <p:spPr>
          <a:xfrm flipV="1">
            <a:off x="518833" y="-621102"/>
            <a:ext cx="0" cy="54346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 flipH="1">
            <a:off x="-1257850" y="755762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 userDrawn="1"/>
        </p:nvCxnSpPr>
        <p:spPr>
          <a:xfrm flipH="1">
            <a:off x="-1257850" y="1366838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 userDrawn="1"/>
        </p:nvCxnSpPr>
        <p:spPr>
          <a:xfrm flipV="1">
            <a:off x="-16115" y="-621102"/>
            <a:ext cx="0" cy="54346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 userDrawn="1"/>
        </p:nvCxnSpPr>
        <p:spPr>
          <a:xfrm flipV="1">
            <a:off x="518833" y="-621102"/>
            <a:ext cx="0" cy="54346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 userDrawn="1"/>
        </p:nvCxnSpPr>
        <p:spPr>
          <a:xfrm flipV="1">
            <a:off x="-16115" y="-621102"/>
            <a:ext cx="0" cy="54346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 userDrawn="1"/>
        </p:nvCxnSpPr>
        <p:spPr>
          <a:xfrm>
            <a:off x="-16115" y="-327804"/>
            <a:ext cx="53494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 userDrawn="1"/>
        </p:nvSpPr>
        <p:spPr>
          <a:xfrm>
            <a:off x="-119279" y="-903323"/>
            <a:ext cx="90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>
                <a:latin typeface="Arial" panose="020B0604020202020204" pitchFamily="34" charset="0"/>
                <a:cs typeface="Arial" panose="020B0604020202020204" pitchFamily="34" charset="0"/>
              </a:rPr>
              <a:t>Левое поле (пустое)</a:t>
            </a:r>
          </a:p>
        </p:txBody>
      </p:sp>
      <p:cxnSp>
        <p:nvCxnSpPr>
          <p:cNvPr id="18" name="Прямая соединительная линия 17"/>
          <p:cNvCxnSpPr/>
          <p:nvPr userDrawn="1"/>
        </p:nvCxnSpPr>
        <p:spPr>
          <a:xfrm flipV="1">
            <a:off x="13432082" y="-621102"/>
            <a:ext cx="0" cy="54346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 userDrawn="1"/>
        </p:nvCxnSpPr>
        <p:spPr>
          <a:xfrm flipV="1">
            <a:off x="12916356" y="-621102"/>
            <a:ext cx="0" cy="54346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 userDrawn="1"/>
        </p:nvCxnSpPr>
        <p:spPr>
          <a:xfrm>
            <a:off x="12897134" y="-327804"/>
            <a:ext cx="53494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12793969" y="-903323"/>
            <a:ext cx="90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>
                <a:latin typeface="Arial" panose="020B0604020202020204" pitchFamily="34" charset="0"/>
                <a:cs typeface="Arial" panose="020B0604020202020204" pitchFamily="34" charset="0"/>
              </a:rPr>
              <a:t>Правое поле (пустое)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-2147126" y="338090"/>
            <a:ext cx="2027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900" dirty="0">
                <a:latin typeface="Arial" panose="020B0604020202020204" pitchFamily="34" charset="0"/>
                <a:cs typeface="Arial" panose="020B0604020202020204" pitchFamily="34" charset="0"/>
              </a:rPr>
              <a:t>Базовая линия </a:t>
            </a:r>
            <a:br>
              <a:rPr lang="ru-RU" sz="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900" dirty="0">
                <a:latin typeface="Arial" panose="020B0604020202020204" pitchFamily="34" charset="0"/>
                <a:cs typeface="Arial" panose="020B0604020202020204" pitchFamily="34" charset="0"/>
              </a:rPr>
              <a:t>первой строки заголовка</a:t>
            </a:r>
          </a:p>
        </p:txBody>
      </p:sp>
      <p:sp>
        <p:nvSpPr>
          <p:cNvPr id="23" name="TextBox 22"/>
          <p:cNvSpPr txBox="1"/>
          <p:nvPr userDrawn="1"/>
        </p:nvSpPr>
        <p:spPr>
          <a:xfrm>
            <a:off x="-2147125" y="988769"/>
            <a:ext cx="2027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900" dirty="0">
                <a:latin typeface="Arial" panose="020B0604020202020204" pitchFamily="34" charset="0"/>
                <a:cs typeface="Arial" panose="020B0604020202020204" pitchFamily="34" charset="0"/>
              </a:rPr>
              <a:t>Базовая линия </a:t>
            </a:r>
            <a:br>
              <a:rPr lang="ru-RU" sz="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900" dirty="0">
                <a:latin typeface="Arial" panose="020B0604020202020204" pitchFamily="34" charset="0"/>
                <a:cs typeface="Arial" panose="020B0604020202020204" pitchFamily="34" charset="0"/>
              </a:rPr>
              <a:t>второй строки заголовка</a:t>
            </a:r>
          </a:p>
        </p:txBody>
      </p:sp>
      <p:sp>
        <p:nvSpPr>
          <p:cNvPr id="24" name="TextBox 23"/>
          <p:cNvSpPr txBox="1"/>
          <p:nvPr userDrawn="1"/>
        </p:nvSpPr>
        <p:spPr>
          <a:xfrm>
            <a:off x="875743" y="-375808"/>
            <a:ext cx="32840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900" dirty="0">
                <a:latin typeface="Arial" panose="020B0604020202020204" pitchFamily="34" charset="0"/>
                <a:cs typeface="Arial" panose="020B0604020202020204" pitchFamily="34" charset="0"/>
              </a:rPr>
              <a:t>ШАБЛОН СЛАЙДА 2</a:t>
            </a:r>
          </a:p>
        </p:txBody>
      </p:sp>
      <p:cxnSp>
        <p:nvCxnSpPr>
          <p:cNvPr id="25" name="Прямая соединительная линия 24"/>
          <p:cNvCxnSpPr/>
          <p:nvPr userDrawn="1"/>
        </p:nvCxnSpPr>
        <p:spPr>
          <a:xfrm flipH="1">
            <a:off x="518834" y="-327804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 userDrawn="1"/>
        </p:nvSpPr>
        <p:spPr>
          <a:xfrm>
            <a:off x="789586" y="-512470"/>
            <a:ext cx="20278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900" dirty="0">
                <a:latin typeface="Arial" panose="020B0604020202020204" pitchFamily="34" charset="0"/>
                <a:cs typeface="Arial" panose="020B0604020202020204" pitchFamily="34" charset="0"/>
              </a:rPr>
              <a:t>линия выравнивания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8201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1">
          <p15:clr>
            <a:srgbClr val="FBAE40"/>
          </p15:clr>
        </p15:guide>
        <p15:guide id="2" pos="260">
          <p15:clr>
            <a:srgbClr val="FBAE40"/>
          </p15:clr>
        </p15:guide>
        <p15:guide id="3" pos="6475">
          <p15:clr>
            <a:srgbClr val="FBAE40"/>
          </p15:clr>
        </p15:guide>
        <p15:guide id="4" orient="horz" pos="47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3985" y="402483"/>
            <a:ext cx="11591806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3985" y="2012414"/>
            <a:ext cx="11591806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3985" y="7006699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>
            <a:off x="-1257850" y="755762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-1257850" y="1366838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 userDrawn="1"/>
        </p:nvCxnSpPr>
        <p:spPr>
          <a:xfrm flipH="1">
            <a:off x="-1257850" y="755762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 userDrawn="1"/>
        </p:nvCxnSpPr>
        <p:spPr>
          <a:xfrm flipH="1">
            <a:off x="-1257850" y="1366838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660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9" r:id="rId13"/>
  </p:sldLayoutIdLst>
  <p:hf hdr="0" ftr="0" dt="0"/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76" userDrawn="1">
          <p15:clr>
            <a:srgbClr val="F26B43"/>
          </p15:clr>
        </p15:guide>
        <p15:guide id="2" orient="horz" pos="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11" Type="http://schemas.openxmlformats.org/officeDocument/2006/relationships/image" Target="../media/image30.jpe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98" y="477896"/>
            <a:ext cx="3699279" cy="384659"/>
          </a:xfrm>
          <a:prstGeom prst="rect">
            <a:avLst/>
          </a:prstGeom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2F1AF64E-8F75-42AA-8383-426D976824EB}"/>
              </a:ext>
            </a:extLst>
          </p:cNvPr>
          <p:cNvCxnSpPr>
            <a:cxnSpLocks/>
          </p:cNvCxnSpPr>
          <p:nvPr/>
        </p:nvCxnSpPr>
        <p:spPr>
          <a:xfrm>
            <a:off x="744193" y="6170068"/>
            <a:ext cx="12695582" cy="0"/>
          </a:xfrm>
          <a:prstGeom prst="line">
            <a:avLst/>
          </a:prstGeom>
          <a:ln w="28575">
            <a:solidFill>
              <a:srgbClr val="FF0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0"/>
          <p:cNvSpPr/>
          <p:nvPr/>
        </p:nvSpPr>
        <p:spPr>
          <a:xfrm>
            <a:off x="731494" y="1949307"/>
            <a:ext cx="10588636" cy="422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0000"/>
              </a:lnSpc>
            </a:pPr>
            <a:r>
              <a:rPr lang="ru-RU" sz="6000" kern="0" spc="-300" dirty="0">
                <a:latin typeface="TT Norms Regular" pitchFamily="34" charset="0"/>
                <a:ea typeface="TT Norms Regular" pitchFamily="34" charset="-122"/>
                <a:cs typeface="TT Norms Regular" pitchFamily="34" charset="-120"/>
              </a:rPr>
              <a:t>Выпускная квалификационная работа</a:t>
            </a:r>
          </a:p>
          <a:p>
            <a:pPr>
              <a:lnSpc>
                <a:spcPct val="80000"/>
              </a:lnSpc>
            </a:pPr>
            <a:r>
              <a:rPr lang="ru-RU" sz="5400" kern="0" spc="-300" dirty="0">
                <a:solidFill>
                  <a:srgbClr val="FF004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rPr>
              <a:t>на тему</a:t>
            </a:r>
          </a:p>
          <a:p>
            <a:pPr>
              <a:lnSpc>
                <a:spcPct val="80000"/>
              </a:lnSpc>
            </a:pPr>
            <a:r>
              <a:rPr lang="ru-RU" sz="5400" kern="0" spc="-300" dirty="0">
                <a:solidFill>
                  <a:srgbClr val="FF004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rPr>
              <a:t>«</a:t>
            </a:r>
            <a:r>
              <a:rPr lang="ru-RU" sz="3600" kern="0" spc="-300" dirty="0">
                <a:solidFill>
                  <a:srgbClr val="FF004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rPr>
              <a:t>Разработка веб-приложения для управления проектами и задачами на базе Австралийской компании </a:t>
            </a:r>
            <a:r>
              <a:rPr lang="ru-RU" sz="3600" kern="0" spc="-300" dirty="0" err="1">
                <a:solidFill>
                  <a:srgbClr val="FF004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rPr>
              <a:t>Atlassian</a:t>
            </a:r>
            <a:r>
              <a:rPr lang="ru-RU" sz="3600" kern="0" spc="-300" dirty="0">
                <a:solidFill>
                  <a:srgbClr val="FF004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rPr>
              <a:t>, в частности их продукта </a:t>
            </a:r>
            <a:r>
              <a:rPr lang="ru-RU" sz="3600" kern="0" spc="-300" dirty="0" err="1">
                <a:solidFill>
                  <a:srgbClr val="FF004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rPr>
              <a:t>Jira</a:t>
            </a:r>
            <a:r>
              <a:rPr lang="ru-RU" sz="5400" kern="0" spc="-300" dirty="0">
                <a:solidFill>
                  <a:srgbClr val="FF004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rPr>
              <a:t>»</a:t>
            </a:r>
          </a:p>
        </p:txBody>
      </p:sp>
      <p:sp>
        <p:nvSpPr>
          <p:cNvPr id="8" name="Text 1"/>
          <p:cNvSpPr/>
          <p:nvPr/>
        </p:nvSpPr>
        <p:spPr>
          <a:xfrm>
            <a:off x="1321787" y="6409236"/>
            <a:ext cx="6818913" cy="79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500" dirty="0">
                <a:cs typeface="Gotham Pro Medium" panose="02000603030000020004" pitchFamily="50" charset="0"/>
              </a:rPr>
              <a:t>Обучающийся: Пастьбин Александр Юрьевич</a:t>
            </a:r>
          </a:p>
          <a:p>
            <a:r>
              <a:rPr lang="ru-RU" sz="2500" dirty="0">
                <a:cs typeface="Gotham Pro Medium" panose="02000603030000020004" pitchFamily="50" charset="0"/>
              </a:rPr>
              <a:t>Руководитель: </a:t>
            </a:r>
            <a:r>
              <a:rPr lang="ru-RU" sz="2500" dirty="0" err="1">
                <a:cs typeface="Gotham Pro Medium" panose="02000603030000020004" pitchFamily="50" charset="0"/>
              </a:rPr>
              <a:t>Мутраков</a:t>
            </a:r>
            <a:r>
              <a:rPr lang="ru-RU" sz="2500" dirty="0">
                <a:cs typeface="Gotham Pro Medium" panose="02000603030000020004" pitchFamily="50" charset="0"/>
              </a:rPr>
              <a:t> Олег Сергеевич</a:t>
            </a: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31494" y="6525258"/>
            <a:ext cx="363457" cy="363513"/>
          </a:xfrm>
          <a:prstGeom prst="rect">
            <a:avLst/>
          </a:prstGeom>
        </p:spPr>
      </p:pic>
      <p:sp>
        <p:nvSpPr>
          <p:cNvPr id="9" name="Freeform 5"/>
          <p:cNvSpPr>
            <a:spLocks/>
          </p:cNvSpPr>
          <p:nvPr/>
        </p:nvSpPr>
        <p:spPr bwMode="auto">
          <a:xfrm>
            <a:off x="10235821" y="0"/>
            <a:ext cx="3203954" cy="6170068"/>
          </a:xfrm>
          <a:custGeom>
            <a:avLst/>
            <a:gdLst>
              <a:gd name="T0" fmla="*/ 1549 w 1549"/>
              <a:gd name="T1" fmla="*/ 2031 h 3034"/>
              <a:gd name="T2" fmla="*/ 1049 w 1549"/>
              <a:gd name="T3" fmla="*/ 1517 h 3034"/>
              <a:gd name="T4" fmla="*/ 1549 w 1549"/>
              <a:gd name="T5" fmla="*/ 1003 h 3034"/>
              <a:gd name="T6" fmla="*/ 1549 w 1549"/>
              <a:gd name="T7" fmla="*/ 0 h 3034"/>
              <a:gd name="T8" fmla="*/ 0 w 1549"/>
              <a:gd name="T9" fmla="*/ 1517 h 3034"/>
              <a:gd name="T10" fmla="*/ 1549 w 1549"/>
              <a:gd name="T11" fmla="*/ 3034 h 3034"/>
              <a:gd name="T12" fmla="*/ 1549 w 1549"/>
              <a:gd name="T13" fmla="*/ 2031 h 3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49" h="3034">
                <a:moveTo>
                  <a:pt x="1549" y="2031"/>
                </a:moveTo>
                <a:lnTo>
                  <a:pt x="1049" y="1517"/>
                </a:lnTo>
                <a:lnTo>
                  <a:pt x="1549" y="1003"/>
                </a:lnTo>
                <a:lnTo>
                  <a:pt x="1549" y="0"/>
                </a:lnTo>
                <a:lnTo>
                  <a:pt x="0" y="1517"/>
                </a:lnTo>
                <a:lnTo>
                  <a:pt x="1549" y="3034"/>
                </a:lnTo>
                <a:lnTo>
                  <a:pt x="1549" y="2031"/>
                </a:lnTo>
                <a:close/>
              </a:path>
            </a:pathLst>
          </a:custGeom>
          <a:noFill/>
          <a:ln w="6350">
            <a:solidFill>
              <a:srgbClr val="FF004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EAFA52-E449-11AC-AE73-71A0340B865D}"/>
              </a:ext>
            </a:extLst>
          </p:cNvPr>
          <p:cNvSpPr/>
          <p:nvPr/>
        </p:nvSpPr>
        <p:spPr>
          <a:xfrm>
            <a:off x="745398" y="1101722"/>
            <a:ext cx="9408695" cy="79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000" dirty="0">
                <a:cs typeface="Gotham Pro Medium" panose="02000603030000020004" pitchFamily="50" charset="0"/>
              </a:rPr>
              <a:t>Направление подготовки: </a:t>
            </a:r>
            <a:r>
              <a:rPr lang="ru-RU" dirty="0"/>
              <a:t>Информационные системы и технологии</a:t>
            </a:r>
            <a:endParaRPr lang="ru-RU" sz="2000" dirty="0">
              <a:cs typeface="Gotham Pro Medium" panose="02000603030000020004" pitchFamily="50" charset="0"/>
            </a:endParaRPr>
          </a:p>
          <a:p>
            <a:r>
              <a:rPr lang="ru-RU" sz="2000" dirty="0">
                <a:cs typeface="Gotham Pro Medium" panose="02000603030000020004" pitchFamily="50" charset="0"/>
              </a:rPr>
              <a:t>Профиль: </a:t>
            </a:r>
            <a:r>
              <a:rPr lang="ru-RU" dirty="0"/>
              <a:t>Веб-разработка</a:t>
            </a:r>
            <a:endParaRPr lang="ru-RU" sz="2000" dirty="0">
              <a:cs typeface="Gotham Pro Medium" panose="02000603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611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0FE4FD52-A12D-405E-999C-50B94D86EC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5379"/>
          <a:stretch/>
        </p:blipFill>
        <p:spPr>
          <a:xfrm>
            <a:off x="11338505" y="1436930"/>
            <a:ext cx="2101270" cy="6122745"/>
          </a:xfrm>
          <a:prstGeom prst="rect">
            <a:avLst/>
          </a:prstGeom>
        </p:spPr>
      </p:pic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13D0-6E26-43FB-BD47-70B2F75E669A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39" name="Заголовок 8">
            <a:extLst>
              <a:ext uri="{FF2B5EF4-FFF2-40B4-BE49-F238E27FC236}">
                <a16:creationId xmlns:a16="http://schemas.microsoft.com/office/drawing/2014/main" id="{B5D41CCB-F4F9-4CAC-9A70-CF227E1DA6BE}"/>
              </a:ext>
            </a:extLst>
          </p:cNvPr>
          <p:cNvSpPr txBox="1">
            <a:spLocks/>
          </p:cNvSpPr>
          <p:nvPr/>
        </p:nvSpPr>
        <p:spPr>
          <a:xfrm>
            <a:off x="547687" y="350836"/>
            <a:ext cx="8043218" cy="6858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1007943" rtl="0" eaLnBrk="1" latinLnBrk="0" hangingPunct="1">
              <a:lnSpc>
                <a:spcPct val="68000"/>
              </a:lnSpc>
              <a:spcBef>
                <a:spcPct val="0"/>
              </a:spcBef>
              <a:buNone/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r>
              <a:rPr lang="ru-RU" sz="6000" dirty="0"/>
              <a:t>Цель и </a:t>
            </a:r>
            <a:r>
              <a:rPr lang="ru-RU" sz="6000" dirty="0">
                <a:solidFill>
                  <a:srgbClr val="FF0040"/>
                </a:solidFill>
              </a:rPr>
              <a:t>задачи</a:t>
            </a:r>
          </a:p>
        </p:txBody>
      </p: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4C22805C-7D63-43C8-BD51-F4ACB8BEAA31}"/>
              </a:ext>
            </a:extLst>
          </p:cNvPr>
          <p:cNvCxnSpPr>
            <a:cxnSpLocks/>
          </p:cNvCxnSpPr>
          <p:nvPr/>
        </p:nvCxnSpPr>
        <p:spPr>
          <a:xfrm flipH="1">
            <a:off x="2622698" y="1039495"/>
            <a:ext cx="136834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D12F03D2-FEB8-88E2-C40A-007B8684D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114" y="1722436"/>
            <a:ext cx="2069584" cy="1379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7EED5-9E60-0BBB-5F8C-00740270D1D5}"/>
              </a:ext>
            </a:extLst>
          </p:cNvPr>
          <p:cNvSpPr txBox="1"/>
          <p:nvPr/>
        </p:nvSpPr>
        <p:spPr>
          <a:xfrm>
            <a:off x="3290887" y="2027237"/>
            <a:ext cx="75438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Цель: </a:t>
            </a:r>
            <a:r>
              <a:rPr lang="ru-RU" sz="1600" dirty="0"/>
              <a:t>проектирование и разработка прототипа системы управления проектами на базе современных веб-технологий для эффективной совместной работы команд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4EF45B-A328-E0D7-880B-150AD6DB2AF6}"/>
              </a:ext>
            </a:extLst>
          </p:cNvPr>
          <p:cNvSpPr txBox="1"/>
          <p:nvPr/>
        </p:nvSpPr>
        <p:spPr>
          <a:xfrm>
            <a:off x="3367087" y="3246437"/>
            <a:ext cx="739140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Задачи:</a:t>
            </a:r>
          </a:p>
          <a:p>
            <a:r>
              <a:rPr lang="ru-RU" sz="1600" dirty="0"/>
              <a:t>1. Провести комплексный анализ предметной области и выполнить сравнительный обзор существующих систем управления проектами.</a:t>
            </a:r>
          </a:p>
          <a:p>
            <a:r>
              <a:rPr lang="ru-RU" sz="1600" dirty="0"/>
              <a:t>2. Проанализировать современные стеки технологий для разработки высоконагруженных веб-интерфейсов и систем реального времени.</a:t>
            </a:r>
          </a:p>
          <a:p>
            <a:r>
              <a:rPr lang="ru-RU" sz="1600" dirty="0"/>
              <a:t>3. Разработать информационную модель и спроектировать структуру реляционной базы данных.</a:t>
            </a:r>
          </a:p>
          <a:p>
            <a:r>
              <a:rPr lang="ru-RU" sz="1600" dirty="0"/>
              <a:t>4. Спроектировать и реализовать серверную часть на базе Node.js (Next.js), обеспечивающую безопасность и атомарность операций.</a:t>
            </a:r>
          </a:p>
          <a:p>
            <a:r>
              <a:rPr lang="ru-RU" sz="1600" dirty="0"/>
              <a:t>5. Реализовать механизмы синхронизации данных в реальном времени с использованием протокола </a:t>
            </a:r>
            <a:r>
              <a:rPr lang="ru-RU" sz="1600" dirty="0" err="1"/>
              <a:t>WebSocket</a:t>
            </a:r>
            <a:r>
              <a:rPr lang="ru-RU" sz="1600" dirty="0"/>
              <a:t>.</a:t>
            </a:r>
          </a:p>
          <a:p>
            <a:r>
              <a:rPr lang="ru-RU" sz="1600" dirty="0"/>
              <a:t>6. Разработать интуитивно понятный клиентский интерфейс, адаптированный под требования </a:t>
            </a:r>
            <a:r>
              <a:rPr lang="ru-RU" sz="1600" dirty="0" err="1"/>
              <a:t>Agile</a:t>
            </a:r>
            <a:r>
              <a:rPr lang="ru-RU" sz="1600" dirty="0"/>
              <a:t>-команд.</a:t>
            </a:r>
          </a:p>
          <a:p>
            <a:r>
              <a:rPr lang="ru-RU" sz="1600" dirty="0"/>
              <a:t>7. Оценить экономическую эффективность разработки и внедрения продукта.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FE38290-C30E-8174-12DE-D286D758E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114" y="4008437"/>
            <a:ext cx="2216075" cy="2103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6240011F-2595-D477-8158-145D1E5651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67488" y="36274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145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13D0-6E26-43FB-BD47-70B2F75E669A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30" name="Google Shape;175;p22">
            <a:extLst>
              <a:ext uri="{FF2B5EF4-FFF2-40B4-BE49-F238E27FC236}">
                <a16:creationId xmlns:a16="http://schemas.microsoft.com/office/drawing/2014/main" id="{6F16FADA-C71F-4B70-BA10-05482C4A60EF}"/>
              </a:ext>
            </a:extLst>
          </p:cNvPr>
          <p:cNvSpPr txBox="1"/>
          <p:nvPr/>
        </p:nvSpPr>
        <p:spPr>
          <a:xfrm>
            <a:off x="5881687" y="1950221"/>
            <a:ext cx="6605992" cy="47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 fontAlgn="base">
              <a:spcBef>
                <a:spcPts val="684"/>
              </a:spcBef>
              <a:buClr>
                <a:srgbClr val="FF0040"/>
              </a:buClr>
              <a:buFont typeface="+mj-lt"/>
              <a:buAutoNum type="arabicPeriod"/>
            </a:pPr>
            <a:r>
              <a:rPr lang="ru-RU" dirty="0"/>
              <a:t> Уход с рынка РФ зарубежных вендоров (в т.ч. </a:t>
            </a:r>
            <a:r>
              <a:rPr lang="ru-RU" dirty="0" err="1"/>
              <a:t>Atlassian</a:t>
            </a:r>
            <a:r>
              <a:rPr lang="ru-RU" dirty="0"/>
              <a:t>) — необходимость импортозамещения.</a:t>
            </a:r>
            <a:br>
              <a:rPr lang="ru-RU" dirty="0"/>
            </a:br>
            <a:endParaRPr lang="ru-RU" dirty="0"/>
          </a:p>
          <a:p>
            <a:pPr marL="342900" lvl="0" indent="-342900">
              <a:spcAft>
                <a:spcPts val="3000"/>
              </a:spcAft>
              <a:buClr>
                <a:srgbClr val="FF0040"/>
              </a:buClr>
              <a:buFont typeface="+mj-lt"/>
              <a:buAutoNum type="arabicPeriod"/>
            </a:pPr>
            <a:r>
              <a:rPr lang="ru-RU" dirty="0">
                <a:sym typeface="Arial"/>
              </a:rPr>
              <a:t>Системы управления задачами востребованы в разных отраслях для прозрачности процессов и контроля сроков.</a:t>
            </a:r>
          </a:p>
          <a:p>
            <a:pPr marL="342900" lvl="0" indent="-342900">
              <a:spcAft>
                <a:spcPts val="3000"/>
              </a:spcAft>
              <a:buClr>
                <a:srgbClr val="FF0040"/>
              </a:buClr>
              <a:buFont typeface="+mj-lt"/>
              <a:buAutoNum type="arabicPeriod"/>
            </a:pPr>
            <a:r>
              <a:rPr lang="ru-RU" dirty="0">
                <a:sym typeface="Arial"/>
              </a:rPr>
              <a:t>Гибкие методологии (</a:t>
            </a:r>
            <a:r>
              <a:rPr lang="ru-RU" dirty="0" err="1">
                <a:sym typeface="Arial"/>
              </a:rPr>
              <a:t>Agile</a:t>
            </a:r>
            <a:r>
              <a:rPr lang="ru-RU" dirty="0">
                <a:sym typeface="Arial"/>
              </a:rPr>
              <a:t>, </a:t>
            </a:r>
            <a:r>
              <a:rPr lang="ru-RU" dirty="0" err="1">
                <a:sym typeface="Arial"/>
              </a:rPr>
              <a:t>Scrum</a:t>
            </a:r>
            <a:r>
              <a:rPr lang="ru-RU" dirty="0">
                <a:sym typeface="Arial"/>
              </a:rPr>
              <a:t>, </a:t>
            </a:r>
            <a:r>
              <a:rPr lang="ru-RU" dirty="0" err="1">
                <a:sym typeface="Arial"/>
              </a:rPr>
              <a:t>Kanban</a:t>
            </a:r>
            <a:r>
              <a:rPr lang="ru-RU" dirty="0">
                <a:sym typeface="Arial"/>
              </a:rPr>
              <a:t>) вышли за рамки ИТ.</a:t>
            </a:r>
          </a:p>
          <a:p>
            <a:pPr marL="342900" indent="-342900">
              <a:spcAft>
                <a:spcPts val="3000"/>
              </a:spcAft>
              <a:buClr>
                <a:srgbClr val="FF0040"/>
              </a:buClr>
              <a:buFont typeface="+mj-lt"/>
              <a:buAutoNum type="arabicPeriod"/>
            </a:pPr>
            <a:r>
              <a:rPr lang="ru-RU" dirty="0"/>
              <a:t>Цель — отечественный аналог с современными технологиями и понятным интерфейсом, без зависимости от зарубежного </a:t>
            </a:r>
            <a:r>
              <a:rPr lang="ru-RU" dirty="0" err="1"/>
              <a:t>SaaS</a:t>
            </a:r>
            <a:r>
              <a:rPr lang="ru-RU" dirty="0"/>
              <a:t>.</a:t>
            </a:r>
          </a:p>
          <a:p>
            <a:pPr>
              <a:spcAft>
                <a:spcPts val="3000"/>
              </a:spcAft>
              <a:buClr>
                <a:srgbClr val="FF0040"/>
              </a:buClr>
            </a:pPr>
            <a:endParaRPr lang="ru-RU" dirty="0"/>
          </a:p>
        </p:txBody>
      </p:sp>
      <p:sp>
        <p:nvSpPr>
          <p:cNvPr id="8" name="Заголовок 8">
            <a:extLst>
              <a:ext uri="{FF2B5EF4-FFF2-40B4-BE49-F238E27FC236}">
                <a16:creationId xmlns:a16="http://schemas.microsoft.com/office/drawing/2014/main" id="{B5D41CCB-F4F9-4CAC-9A70-CF227E1DA6BE}"/>
              </a:ext>
            </a:extLst>
          </p:cNvPr>
          <p:cNvSpPr txBox="1">
            <a:spLocks/>
          </p:cNvSpPr>
          <p:nvPr/>
        </p:nvSpPr>
        <p:spPr>
          <a:xfrm>
            <a:off x="547687" y="350836"/>
            <a:ext cx="10637436" cy="6858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1007943" rtl="0" eaLnBrk="1" latinLnBrk="0" hangingPunct="1">
              <a:lnSpc>
                <a:spcPct val="68000"/>
              </a:lnSpc>
              <a:spcBef>
                <a:spcPct val="0"/>
              </a:spcBef>
              <a:buNone/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r>
              <a:rPr lang="ru-RU" sz="6000" dirty="0"/>
              <a:t>Актуальность </a:t>
            </a:r>
            <a:r>
              <a:rPr lang="ru-RU" sz="6000" dirty="0">
                <a:solidFill>
                  <a:srgbClr val="FF0040"/>
                </a:solidFill>
              </a:rPr>
              <a:t>темы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C22805C-7D63-43C8-BD51-F4ACB8BEAA31}"/>
              </a:ext>
            </a:extLst>
          </p:cNvPr>
          <p:cNvCxnSpPr>
            <a:cxnSpLocks/>
          </p:cNvCxnSpPr>
          <p:nvPr/>
        </p:nvCxnSpPr>
        <p:spPr>
          <a:xfrm flipH="1" flipV="1">
            <a:off x="4662487" y="1036637"/>
            <a:ext cx="8777288" cy="1809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8" name="Picture 10">
            <a:extLst>
              <a:ext uri="{FF2B5EF4-FFF2-40B4-BE49-F238E27FC236}">
                <a16:creationId xmlns:a16="http://schemas.microsoft.com/office/drawing/2014/main" id="{F469C6F2-EC7C-2B00-451B-C96573ACB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4" y="2027237"/>
            <a:ext cx="5011866" cy="332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239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2A60A6C4-1096-57CE-CC49-D56C1BB6BCC2}"/>
              </a:ext>
            </a:extLst>
          </p:cNvPr>
          <p:cNvSpPr>
            <a:spLocks/>
          </p:cNvSpPr>
          <p:nvPr/>
        </p:nvSpPr>
        <p:spPr bwMode="auto">
          <a:xfrm>
            <a:off x="8434815" y="-1049654"/>
            <a:ext cx="5004960" cy="9803130"/>
          </a:xfrm>
          <a:custGeom>
            <a:avLst/>
            <a:gdLst>
              <a:gd name="T0" fmla="*/ 1549 w 1549"/>
              <a:gd name="T1" fmla="*/ 2031 h 3034"/>
              <a:gd name="T2" fmla="*/ 1049 w 1549"/>
              <a:gd name="T3" fmla="*/ 1517 h 3034"/>
              <a:gd name="T4" fmla="*/ 1549 w 1549"/>
              <a:gd name="T5" fmla="*/ 1003 h 3034"/>
              <a:gd name="T6" fmla="*/ 1549 w 1549"/>
              <a:gd name="T7" fmla="*/ 0 h 3034"/>
              <a:gd name="T8" fmla="*/ 0 w 1549"/>
              <a:gd name="T9" fmla="*/ 1517 h 3034"/>
              <a:gd name="T10" fmla="*/ 1549 w 1549"/>
              <a:gd name="T11" fmla="*/ 3034 h 3034"/>
              <a:gd name="T12" fmla="*/ 1549 w 1549"/>
              <a:gd name="T13" fmla="*/ 2031 h 3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49" h="3034">
                <a:moveTo>
                  <a:pt x="1549" y="2031"/>
                </a:moveTo>
                <a:lnTo>
                  <a:pt x="1049" y="1517"/>
                </a:lnTo>
                <a:lnTo>
                  <a:pt x="1549" y="1003"/>
                </a:lnTo>
                <a:lnTo>
                  <a:pt x="1549" y="0"/>
                </a:lnTo>
                <a:lnTo>
                  <a:pt x="0" y="1517"/>
                </a:lnTo>
                <a:lnTo>
                  <a:pt x="1549" y="3034"/>
                </a:lnTo>
                <a:lnTo>
                  <a:pt x="1549" y="20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63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13D0-6E26-43FB-BD47-70B2F75E669A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B5D41CCB-F4F9-4CAC-9A70-CF227E1DA6BE}"/>
              </a:ext>
            </a:extLst>
          </p:cNvPr>
          <p:cNvSpPr txBox="1">
            <a:spLocks/>
          </p:cNvSpPr>
          <p:nvPr/>
        </p:nvSpPr>
        <p:spPr>
          <a:xfrm>
            <a:off x="530592" y="350837"/>
            <a:ext cx="8060313" cy="121730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1007943" rtl="0" eaLnBrk="1" latinLnBrk="0" hangingPunct="1">
              <a:lnSpc>
                <a:spcPct val="68000"/>
              </a:lnSpc>
              <a:spcBef>
                <a:spcPct val="0"/>
              </a:spcBef>
              <a:buNone/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r>
              <a:rPr lang="ru-RU" sz="6000" dirty="0"/>
              <a:t>Рынок инструментов</a:t>
            </a:r>
            <a:br>
              <a:rPr lang="ru-RU" sz="6000" dirty="0"/>
            </a:br>
            <a:r>
              <a:rPr lang="ru-RU" sz="6000" dirty="0">
                <a:solidFill>
                  <a:srgbClr val="FF0040"/>
                </a:solidFill>
              </a:rPr>
              <a:t>управления проектами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4C22805C-7D63-43C8-BD51-F4ACB8BEAA31}"/>
              </a:ext>
            </a:extLst>
          </p:cNvPr>
          <p:cNvCxnSpPr>
            <a:cxnSpLocks/>
          </p:cNvCxnSpPr>
          <p:nvPr/>
        </p:nvCxnSpPr>
        <p:spPr>
          <a:xfrm flipH="1">
            <a:off x="530592" y="1722437"/>
            <a:ext cx="12909183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D784B8C9-F7F8-853A-4B26-B3C505BD04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9896686"/>
              </p:ext>
            </p:extLst>
          </p:nvPr>
        </p:nvGraphicFramePr>
        <p:xfrm>
          <a:off x="530592" y="1951037"/>
          <a:ext cx="411480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B5D7576-E0FA-EBA2-C327-84E5E908106F}"/>
              </a:ext>
            </a:extLst>
          </p:cNvPr>
          <p:cNvSpPr txBox="1"/>
          <p:nvPr/>
        </p:nvSpPr>
        <p:spPr>
          <a:xfrm>
            <a:off x="4814887" y="2179637"/>
            <a:ext cx="8077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- Среди разработчиков: </a:t>
            </a:r>
            <a:r>
              <a:rPr lang="ru-RU" dirty="0" err="1"/>
              <a:t>Jira</a:t>
            </a:r>
            <a:r>
              <a:rPr lang="ru-RU" dirty="0"/>
              <a:t> — лидер по использованию (по опросам сообщества разработчиков — более половины респондентов)</a:t>
            </a:r>
          </a:p>
          <a:p>
            <a:pPr marL="285750" indent="-285750">
              <a:buFontTx/>
              <a:buChar char="-"/>
            </a:pPr>
            <a:endParaRPr lang="ru-RU" dirty="0"/>
          </a:p>
          <a:p>
            <a:r>
              <a:rPr lang="ru-RU" dirty="0"/>
              <a:t>- Мировой рынок: доля </a:t>
            </a:r>
            <a:r>
              <a:rPr lang="ru-RU" dirty="0" err="1"/>
              <a:t>Jira</a:t>
            </a:r>
            <a:r>
              <a:rPr lang="ru-RU" dirty="0"/>
              <a:t> в сегменте ПО для управления проектами оценивается аналитиками в 40–42%</a:t>
            </a:r>
          </a:p>
          <a:p>
            <a:pPr marL="285750" indent="-285750">
              <a:buFontTx/>
              <a:buChar char="-"/>
            </a:pPr>
            <a:endParaRPr lang="ru-RU" dirty="0"/>
          </a:p>
          <a:p>
            <a:r>
              <a:rPr lang="ru-RU" dirty="0"/>
              <a:t>- В организациях, использующих софт этой категории, </a:t>
            </a:r>
            <a:r>
              <a:rPr lang="ru-RU" dirty="0" err="1"/>
              <a:t>Jira</a:t>
            </a:r>
            <a:r>
              <a:rPr lang="ru-RU" dirty="0"/>
              <a:t> выбирают более половины</a:t>
            </a:r>
          </a:p>
        </p:txBody>
      </p:sp>
    </p:spTree>
    <p:extLst>
      <p:ext uri="{BB962C8B-B14F-4D97-AF65-F5344CB8AC3E}">
        <p14:creationId xmlns:p14="http://schemas.microsoft.com/office/powerpoint/2010/main" val="3978209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17A6A-F6CC-EBA5-938F-5A8244138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296FE75-0049-76F2-0197-0104CEDD5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13D0-6E26-43FB-BD47-70B2F75E669A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4C68DF91-6ACC-3C5C-8A54-B24AB4193D63}"/>
              </a:ext>
            </a:extLst>
          </p:cNvPr>
          <p:cNvSpPr txBox="1">
            <a:spLocks/>
          </p:cNvSpPr>
          <p:nvPr/>
        </p:nvSpPr>
        <p:spPr>
          <a:xfrm>
            <a:off x="530592" y="350837"/>
            <a:ext cx="8060313" cy="121730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1007943" rtl="0" eaLnBrk="1" latinLnBrk="0" hangingPunct="1">
              <a:lnSpc>
                <a:spcPct val="68000"/>
              </a:lnSpc>
              <a:spcBef>
                <a:spcPct val="0"/>
              </a:spcBef>
              <a:buNone/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r>
              <a:rPr lang="ru-RU" sz="6000" dirty="0"/>
              <a:t>Ситуация на российском</a:t>
            </a:r>
            <a:br>
              <a:rPr lang="ru-RU" sz="6000" dirty="0"/>
            </a:br>
            <a:r>
              <a:rPr lang="ru-RU" sz="6000" dirty="0">
                <a:solidFill>
                  <a:srgbClr val="FF0040"/>
                </a:solidFill>
              </a:rPr>
              <a:t>рынке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9542CD99-7CA9-C7AE-4E5B-2C07EE87C2A3}"/>
              </a:ext>
            </a:extLst>
          </p:cNvPr>
          <p:cNvCxnSpPr>
            <a:cxnSpLocks/>
          </p:cNvCxnSpPr>
          <p:nvPr/>
        </p:nvCxnSpPr>
        <p:spPr>
          <a:xfrm flipH="1">
            <a:off x="530592" y="1722437"/>
            <a:ext cx="12909183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5DC4D61-EA1E-EE75-6C1D-F70FEFB9D5F0}"/>
              </a:ext>
            </a:extLst>
          </p:cNvPr>
          <p:cNvSpPr txBox="1"/>
          <p:nvPr/>
        </p:nvSpPr>
        <p:spPr>
          <a:xfrm>
            <a:off x="5272087" y="1951037"/>
            <a:ext cx="7315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Доля зарубежных продуктов (</a:t>
            </a:r>
            <a:r>
              <a:rPr lang="ru-RU" dirty="0" err="1"/>
              <a:t>Jira</a:t>
            </a:r>
            <a:r>
              <a:rPr lang="ru-RU" dirty="0"/>
              <a:t>, Microsoft Project и др.) сократилась примерно вдвое по сравнению с 2022 г.</a:t>
            </a:r>
          </a:p>
          <a:p>
            <a:pPr marL="285750" indent="-285750">
              <a:buFontTx/>
              <a:buChar char="-"/>
            </a:pPr>
            <a:endParaRPr lang="ru-RU" dirty="0"/>
          </a:p>
          <a:p>
            <a:r>
              <a:rPr lang="ru-RU" dirty="0"/>
              <a:t>Около трети компаний продолжают использовать продукты ушедших вендоров в смешанном или автономном режиме.</a:t>
            </a:r>
          </a:p>
          <a:p>
            <a:pPr marL="285750" indent="-285750">
              <a:buFontTx/>
              <a:buChar char="-"/>
            </a:pPr>
            <a:endParaRPr lang="ru-RU" dirty="0"/>
          </a:p>
          <a:p>
            <a:r>
              <a:rPr lang="ru-RU" dirty="0"/>
              <a:t>Российские аналоги: </a:t>
            </a:r>
            <a:r>
              <a:rPr lang="ru-RU" dirty="0" err="1"/>
              <a:t>Tracker</a:t>
            </a:r>
            <a:r>
              <a:rPr lang="ru-RU" dirty="0"/>
              <a:t> (Яндекс), </a:t>
            </a:r>
            <a:r>
              <a:rPr lang="ru-RU" dirty="0" err="1"/>
              <a:t>Kaiten</a:t>
            </a:r>
            <a:r>
              <a:rPr lang="ru-RU" dirty="0"/>
              <a:t>, </a:t>
            </a:r>
            <a:r>
              <a:rPr lang="ru-RU" dirty="0" err="1"/>
              <a:t>EvaProject</a:t>
            </a:r>
            <a:r>
              <a:rPr lang="ru-RU" dirty="0"/>
              <a:t>, Bitrix24 </a:t>
            </a:r>
            <a:r>
              <a:rPr lang="ru-RU" dirty="0" err="1"/>
              <a:t>монопродуктовые</a:t>
            </a:r>
            <a:r>
              <a:rPr lang="ru-RU" dirty="0"/>
              <a:t> решения занимают порядка 70% рынка на 2026г.</a:t>
            </a: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06AE62DE-3506-816A-9FD2-CC6B30BE64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2055313"/>
              </p:ext>
            </p:extLst>
          </p:nvPr>
        </p:nvGraphicFramePr>
        <p:xfrm>
          <a:off x="530593" y="1874837"/>
          <a:ext cx="4360494" cy="28955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AutoShape 8">
            <a:extLst>
              <a:ext uri="{FF2B5EF4-FFF2-40B4-BE49-F238E27FC236}">
                <a16:creationId xmlns:a16="http://schemas.microsoft.com/office/drawing/2014/main" id="{0D987E4E-8396-989E-9EA2-0C431528B2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67487" y="1189039"/>
            <a:ext cx="2743199" cy="274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3DFBB58-4994-3C73-353F-C0A3AADE3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487" y="4634450"/>
            <a:ext cx="2743200" cy="2743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C50B1D-5FDE-3498-25DF-C32B65368953}"/>
              </a:ext>
            </a:extLst>
          </p:cNvPr>
          <p:cNvSpPr txBox="1"/>
          <p:nvPr/>
        </p:nvSpPr>
        <p:spPr>
          <a:xfrm>
            <a:off x="4760595" y="5798085"/>
            <a:ext cx="7731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После ухода </a:t>
            </a:r>
            <a:r>
              <a:rPr lang="ru-RU" dirty="0" err="1"/>
              <a:t>Atlassian</a:t>
            </a:r>
            <a:r>
              <a:rPr lang="ru-RU" dirty="0"/>
              <a:t> доля отечественных решений в сегменте управления проектами выросла до </a:t>
            </a:r>
            <a:r>
              <a:rPr lang="en-US" dirty="0"/>
              <a:t>~</a:t>
            </a:r>
            <a:r>
              <a:rPr lang="ru-RU" dirty="0"/>
              <a:t>74%.</a:t>
            </a:r>
          </a:p>
        </p:txBody>
      </p:sp>
    </p:spTree>
    <p:extLst>
      <p:ext uri="{BB962C8B-B14F-4D97-AF65-F5344CB8AC3E}">
        <p14:creationId xmlns:p14="http://schemas.microsoft.com/office/powerpoint/2010/main" val="1329371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/>
          <p:nvPr/>
        </p:nvSpPr>
        <p:spPr>
          <a:xfrm>
            <a:off x="1942381" y="183404"/>
            <a:ext cx="9019208" cy="627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907"/>
              </a:lnSpc>
            </a:pPr>
            <a:endParaRPr lang="en-US" sz="5759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4C22805C-7D63-43C8-BD51-F4ACB8BEAA31}"/>
              </a:ext>
            </a:extLst>
          </p:cNvPr>
          <p:cNvCxnSpPr>
            <a:cxnSpLocks/>
          </p:cNvCxnSpPr>
          <p:nvPr/>
        </p:nvCxnSpPr>
        <p:spPr>
          <a:xfrm flipH="1">
            <a:off x="4662487" y="1036637"/>
            <a:ext cx="8777289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13D0-6E26-43FB-BD47-70B2F75E669A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B5D41CCB-F4F9-4CAC-9A70-CF227E1DA6B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7689" y="350837"/>
            <a:ext cx="9028112" cy="685800"/>
          </a:xfrm>
        </p:spPr>
        <p:txBody>
          <a:bodyPr>
            <a:normAutofit/>
          </a:bodyPr>
          <a:lstStyle/>
          <a:p>
            <a:pPr>
              <a:lnSpc>
                <a:spcPct val="68000"/>
              </a:lnSpc>
            </a:pPr>
            <a:r>
              <a:rPr lang="ru-RU" dirty="0"/>
              <a:t>Теоретические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rgbClr val="FF0040"/>
                </a:solidFill>
              </a:rPr>
              <a:t>аспекты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C61F640A-4294-4396-8E68-08200FE6A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516388"/>
              </p:ext>
            </p:extLst>
          </p:nvPr>
        </p:nvGraphicFramePr>
        <p:xfrm>
          <a:off x="554989" y="1265237"/>
          <a:ext cx="6324599" cy="292958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71599">
                  <a:extLst>
                    <a:ext uri="{9D8B030D-6E8A-4147-A177-3AD203B41FA5}">
                      <a16:colId xmlns:a16="http://schemas.microsoft.com/office/drawing/2014/main" val="213685829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17396432"/>
                    </a:ext>
                  </a:extLst>
                </a:gridCol>
                <a:gridCol w="780441">
                  <a:extLst>
                    <a:ext uri="{9D8B030D-6E8A-4147-A177-3AD203B41FA5}">
                      <a16:colId xmlns:a16="http://schemas.microsoft.com/office/drawing/2014/main" val="2859419548"/>
                    </a:ext>
                  </a:extLst>
                </a:gridCol>
                <a:gridCol w="785203">
                  <a:extLst>
                    <a:ext uri="{9D8B030D-6E8A-4147-A177-3AD203B41FA5}">
                      <a16:colId xmlns:a16="http://schemas.microsoft.com/office/drawing/2014/main" val="139362943"/>
                    </a:ext>
                  </a:extLst>
                </a:gridCol>
                <a:gridCol w="1277836">
                  <a:extLst>
                    <a:ext uri="{9D8B030D-6E8A-4147-A177-3AD203B41FA5}">
                      <a16:colId xmlns:a16="http://schemas.microsoft.com/office/drawing/2014/main" val="291095110"/>
                    </a:ext>
                  </a:extLst>
                </a:gridCol>
                <a:gridCol w="1195120">
                  <a:extLst>
                    <a:ext uri="{9D8B030D-6E8A-4147-A177-3AD203B41FA5}">
                      <a16:colId xmlns:a16="http://schemas.microsoft.com/office/drawing/2014/main" val="3137042013"/>
                    </a:ext>
                  </a:extLst>
                </a:gridCol>
              </a:tblGrid>
              <a:tr h="38320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T Norms Bold" panose="02000803040000020004" pitchFamily="2" charset="-52"/>
                        </a:rPr>
                        <a:t>Критерий</a:t>
                      </a: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D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TT Norms Bold" panose="02000803040000020004" pitchFamily="2" charset="-52"/>
                        </a:rPr>
                        <a:t>Jira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TT Norms Bold" panose="02000803040000020004" pitchFamily="2" charset="-52"/>
                      </a:endParaRP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D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T Norms Bold" panose="02000803040000020004" pitchFamily="2" charset="-52"/>
                        </a:rPr>
                        <a:t>Trello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TT Norms Bold" panose="02000803040000020004" pitchFamily="2" charset="-52"/>
                      </a:endParaRP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D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TT Norms Bold" panose="02000803040000020004" pitchFamily="2" charset="-52"/>
                        </a:rPr>
                        <a:t>ClickUp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TT Norms Bold" panose="02000803040000020004" pitchFamily="2" charset="-52"/>
                      </a:endParaRP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D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T Norms Bold" panose="02000803040000020004" pitchFamily="2" charset="-52"/>
                        </a:rPr>
                        <a:t>Jira Synergy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T Norms Bold" panose="02000803040000020004" pitchFamily="2" charset="-52"/>
                      </a:endParaRP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D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T Norms Bold" panose="02000803040000020004" pitchFamily="2" charset="-52"/>
                        </a:rPr>
                        <a:t>Bitrix24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T Norms Bold" panose="02000803040000020004" pitchFamily="2" charset="-52"/>
                      </a:endParaRP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536061"/>
                  </a:ext>
                </a:extLst>
              </a:tr>
              <a:tr h="61049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Сложность настройки</a:t>
                      </a: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Высокая</a:t>
                      </a: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Низкая</a:t>
                      </a: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Средняя</a:t>
                      </a: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Низкая</a:t>
                      </a: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Высокая</a:t>
                      </a: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434952"/>
                  </a:ext>
                </a:extLst>
              </a:tr>
              <a:tr h="61049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T Norms Bold" panose="02000803040000020004" pitchFamily="2" charset="-52"/>
                        </a:rPr>
                        <a:t>Синхронизация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T Norms Bold" panose="02000803040000020004" pitchFamily="2" charset="-52"/>
                        </a:rPr>
                        <a:t>Real-time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T Norms Bold" panose="02000803040000020004" pitchFamily="2" charset="-52"/>
                      </a:endParaRP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T Norms Bold" panose="02000803040000020004" pitchFamily="2" charset="-52"/>
                        </a:rPr>
                        <a:t>Средняя</a:t>
                      </a: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T Norms Bold" panose="02000803040000020004" pitchFamily="2" charset="-52"/>
                        </a:rPr>
                        <a:t>Средняя</a:t>
                      </a: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T Norms Bold" panose="02000803040000020004" pitchFamily="2" charset="-52"/>
                        </a:rPr>
                        <a:t>Высокая</a:t>
                      </a: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T Norms Bold" panose="02000803040000020004" pitchFamily="2" charset="-52"/>
                        </a:rPr>
                        <a:t>Максимальная</a:t>
                      </a: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T Norms Bold" panose="02000803040000020004" pitchFamily="2" charset="-52"/>
                        </a:rPr>
                        <a:t>Средняя</a:t>
                      </a: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0814864"/>
                  </a:ext>
                </a:extLst>
              </a:tr>
              <a:tr h="61049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T Norms Bold" panose="02000803040000020004" pitchFamily="2" charset="-52"/>
                        </a:rPr>
                        <a:t>Стоимость лицензий</a:t>
                      </a: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T Norms Bold" panose="02000803040000020004" pitchFamily="2" charset="-52"/>
                        </a:rPr>
                        <a:t>Высокая</a:t>
                      </a: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T Norms Bold" panose="02000803040000020004" pitchFamily="2" charset="-52"/>
                        </a:rPr>
                        <a:t>Средняя</a:t>
                      </a: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T Norms Bold" panose="02000803040000020004" pitchFamily="2" charset="-52"/>
                        </a:rPr>
                        <a:t>Средняя</a:t>
                      </a: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T Norms Bold" panose="02000803040000020004" pitchFamily="2" charset="-52"/>
                        </a:rPr>
                        <a:t>Отсутствует</a:t>
                      </a: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T Norms Bold" panose="02000803040000020004" pitchFamily="2" charset="-52"/>
                        </a:rPr>
                        <a:t>Средняя</a:t>
                      </a: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051473"/>
                  </a:ext>
                </a:extLst>
              </a:tr>
              <a:tr h="71488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T Norms Bold" panose="02000803040000020004" pitchFamily="2" charset="-52"/>
                        </a:rPr>
                        <a:t>Скорость интерфейса</a:t>
                      </a: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T Norms Bold" panose="02000803040000020004" pitchFamily="2" charset="-52"/>
                        </a:rPr>
                        <a:t>Средняя</a:t>
                      </a: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T Norms Bold" panose="02000803040000020004" pitchFamily="2" charset="-52"/>
                        </a:rPr>
                        <a:t>Высокая</a:t>
                      </a: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T Norms Bold" panose="02000803040000020004" pitchFamily="2" charset="-52"/>
                        </a:rPr>
                        <a:t>Средняя</a:t>
                      </a: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T Norms Bold" panose="02000803040000020004" pitchFamily="2" charset="-52"/>
                        </a:rPr>
                        <a:t>Высокая</a:t>
                      </a: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T Norms Bold" panose="02000803040000020004" pitchFamily="2" charset="-52"/>
                        </a:rPr>
                        <a:t>Средняя</a:t>
                      </a:r>
                    </a:p>
                  </a:txBody>
                  <a:tcPr marL="50908" marR="50908" marT="72000" marB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68233"/>
                  </a:ext>
                </a:extLst>
              </a:tr>
            </a:tbl>
          </a:graphicData>
        </a:graphic>
      </p:graphicFrame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9F12069F-C615-05CC-D2C7-A350FDB2AEED}"/>
              </a:ext>
            </a:extLst>
          </p:cNvPr>
          <p:cNvSpPr/>
          <p:nvPr/>
        </p:nvSpPr>
        <p:spPr>
          <a:xfrm>
            <a:off x="7427595" y="1570037"/>
            <a:ext cx="5486400" cy="685800"/>
          </a:xfrm>
          <a:prstGeom prst="roundRect">
            <a:avLst>
              <a:gd name="adj" fmla="val 2484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Исследованы основы веб-приложений: клиент в браузере, логика и данные на сервере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00EB3BD-1C11-A143-13AA-86ABDD06AD47}"/>
              </a:ext>
            </a:extLst>
          </p:cNvPr>
          <p:cNvSpPr/>
          <p:nvPr/>
        </p:nvSpPr>
        <p:spPr>
          <a:xfrm>
            <a:off x="7441882" y="2332037"/>
            <a:ext cx="5508307" cy="685800"/>
          </a:xfrm>
          <a:prstGeom prst="roundRect">
            <a:avLst>
              <a:gd name="adj" fmla="val 2484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Проанализированы методологии: </a:t>
            </a:r>
            <a:r>
              <a:rPr lang="ru-RU" dirty="0" err="1"/>
              <a:t>Agile</a:t>
            </a:r>
            <a:r>
              <a:rPr lang="ru-RU" dirty="0"/>
              <a:t>, </a:t>
            </a:r>
            <a:r>
              <a:rPr lang="ru-RU" dirty="0" err="1"/>
              <a:t>Scrum</a:t>
            </a:r>
            <a:r>
              <a:rPr lang="ru-RU" dirty="0"/>
              <a:t>, </a:t>
            </a:r>
            <a:r>
              <a:rPr lang="ru-RU" dirty="0" err="1"/>
              <a:t>Kanban</a:t>
            </a:r>
            <a:r>
              <a:rPr lang="ru-RU" dirty="0"/>
              <a:t> — основа для проектирования системы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F8268A9A-155E-7A29-C485-0D03984B688C}"/>
              </a:ext>
            </a:extLst>
          </p:cNvPr>
          <p:cNvSpPr/>
          <p:nvPr/>
        </p:nvSpPr>
        <p:spPr>
          <a:xfrm>
            <a:off x="7435215" y="3094037"/>
            <a:ext cx="5508307" cy="685800"/>
          </a:xfrm>
          <a:prstGeom prst="roundRect">
            <a:avLst>
              <a:gd name="adj" fmla="val 2484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Выполнен сравнительный обзор решений (</a:t>
            </a:r>
            <a:r>
              <a:rPr lang="ru-RU" dirty="0" err="1"/>
              <a:t>Jira</a:t>
            </a:r>
            <a:r>
              <a:rPr lang="ru-RU" dirty="0"/>
              <a:t>, </a:t>
            </a:r>
            <a:r>
              <a:rPr lang="ru-RU" dirty="0" err="1"/>
              <a:t>Trello</a:t>
            </a:r>
            <a:r>
              <a:rPr lang="ru-RU"/>
              <a:t>, ClickUp</a:t>
            </a:r>
            <a:r>
              <a:rPr lang="en-US" dirty="0"/>
              <a:t>, Bitrix24</a:t>
            </a:r>
            <a:r>
              <a:rPr lang="ru-RU" dirty="0"/>
              <a:t>)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4AD6E045-D8CF-27C6-71A6-DB7E2D075FA7}"/>
              </a:ext>
            </a:extLst>
          </p:cNvPr>
          <p:cNvSpPr/>
          <p:nvPr/>
        </p:nvSpPr>
        <p:spPr>
          <a:xfrm>
            <a:off x="7419975" y="5151437"/>
            <a:ext cx="5700712" cy="1143000"/>
          </a:xfrm>
          <a:prstGeom prst="roundRect">
            <a:avLst>
              <a:gd name="adj" fmla="val 24849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Вывод: запрос на лёгкое решение с быстрой синхронизацией в реальном времени и простой настройкой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C85F4F-55F8-BD85-B629-538CCEF9C4B0}"/>
              </a:ext>
            </a:extLst>
          </p:cNvPr>
          <p:cNvSpPr txBox="1"/>
          <p:nvPr/>
        </p:nvSpPr>
        <p:spPr>
          <a:xfrm>
            <a:off x="2833687" y="5151437"/>
            <a:ext cx="58673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rgbClr val="00B0F0"/>
                </a:solidFill>
              </a:rPr>
              <a:t>Jira</a:t>
            </a:r>
            <a:r>
              <a:rPr lang="en-US" sz="6600" b="1" dirty="0">
                <a:solidFill>
                  <a:srgbClr val="FF0000"/>
                </a:solidFill>
              </a:rPr>
              <a:t> Sinergy</a:t>
            </a:r>
            <a:endParaRPr lang="ru-RU" sz="6600" b="1" dirty="0">
              <a:solidFill>
                <a:srgbClr val="FF0000"/>
              </a:solidFill>
            </a:endParaRP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8E55AE44-B21E-8FE0-B23A-AF2AD0A82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89" y="4694236"/>
            <a:ext cx="2059621" cy="2059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4872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01D2C2D8-C54D-4A2B-9989-C49B296142F6}"/>
              </a:ext>
            </a:extLst>
          </p:cNvPr>
          <p:cNvCxnSpPr>
            <a:cxnSpLocks/>
          </p:cNvCxnSpPr>
          <p:nvPr/>
        </p:nvCxnSpPr>
        <p:spPr>
          <a:xfrm flipH="1" flipV="1">
            <a:off x="3748087" y="1036637"/>
            <a:ext cx="9683115" cy="223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18237240-1F6B-4DF3-B2CD-404DC54FF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13D0-6E26-43FB-BD47-70B2F75E669A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359959-C4F2-499B-9DF5-99131EC98E2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7686" y="350837"/>
            <a:ext cx="9009063" cy="685800"/>
          </a:xfrm>
        </p:spPr>
        <p:txBody>
          <a:bodyPr>
            <a:normAutofit/>
          </a:bodyPr>
          <a:lstStyle/>
          <a:p>
            <a:pPr>
              <a:lnSpc>
                <a:spcPct val="68000"/>
              </a:lnSpc>
            </a:pPr>
            <a:r>
              <a:rPr lang="ru-RU" dirty="0"/>
              <a:t>Разработка</a:t>
            </a:r>
            <a:r>
              <a:rPr lang="en-US" dirty="0"/>
              <a:t> </a:t>
            </a:r>
            <a:r>
              <a:rPr lang="ru-RU" dirty="0">
                <a:solidFill>
                  <a:srgbClr val="FF0040"/>
                </a:solidFill>
              </a:rPr>
              <a:t>веб-приложения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58E483E-DA4E-F1BD-37EB-EFAEDCF6B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2437"/>
            <a:ext cx="13439775" cy="38915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B7CB46E-CD60-B179-F1E9-BF8A546F7D38}"/>
              </a:ext>
            </a:extLst>
          </p:cNvPr>
          <p:cNvSpPr txBox="1"/>
          <p:nvPr/>
        </p:nvSpPr>
        <p:spPr>
          <a:xfrm>
            <a:off x="504870" y="1189037"/>
            <a:ext cx="10634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Реализован проект: </a:t>
            </a:r>
            <a:r>
              <a:rPr lang="ru-RU" dirty="0" err="1"/>
              <a:t>Kanban</a:t>
            </a:r>
            <a:r>
              <a:rPr lang="ru-RU" dirty="0"/>
              <a:t>-доска, проекты, участники, задачи со статусами и приоритетами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0D0223-80DD-783E-9A5E-1A4A6B25BAE5}"/>
              </a:ext>
            </a:extLst>
          </p:cNvPr>
          <p:cNvSpPr txBox="1"/>
          <p:nvPr/>
        </p:nvSpPr>
        <p:spPr>
          <a:xfrm>
            <a:off x="2071688" y="5837238"/>
            <a:ext cx="353663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Синхронизация в реальном времени: все </a:t>
            </a:r>
            <a:r>
              <a:rPr lang="ru-RU" sz="2000" dirty="0"/>
              <a:t>участники</a:t>
            </a:r>
            <a:r>
              <a:rPr lang="ru-RU" dirty="0"/>
              <a:t> видят изменения без перезагрузки страницы</a:t>
            </a:r>
          </a:p>
        </p:txBody>
      </p:sp>
      <p:pic>
        <p:nvPicPr>
          <p:cNvPr id="4102" name="Picture 6" descr="Picture background">
            <a:extLst>
              <a:ext uri="{FF2B5EF4-FFF2-40B4-BE49-F238E27FC236}">
                <a16:creationId xmlns:a16="http://schemas.microsoft.com/office/drawing/2014/main" id="{300F2237-2FFB-7F68-AF76-287AB621C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9" y="5614008"/>
            <a:ext cx="1676399" cy="1676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AD25FF5-2627-ED4F-D8DF-ECE792C16A42}"/>
              </a:ext>
            </a:extLst>
          </p:cNvPr>
          <p:cNvSpPr txBox="1"/>
          <p:nvPr/>
        </p:nvSpPr>
        <p:spPr>
          <a:xfrm>
            <a:off x="8320087" y="5890894"/>
            <a:ext cx="38280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Безопасность: аутентификация, </a:t>
            </a:r>
            <a:r>
              <a:rPr lang="ru-RU" sz="2000" dirty="0"/>
              <a:t>разграничение</a:t>
            </a:r>
            <a:r>
              <a:rPr lang="ru-RU" dirty="0"/>
              <a:t> прав по проектам, валидация данных</a:t>
            </a:r>
          </a:p>
        </p:txBody>
      </p:sp>
      <p:pic>
        <p:nvPicPr>
          <p:cNvPr id="4104" name="Picture 8" descr="Picture background">
            <a:extLst>
              <a:ext uri="{FF2B5EF4-FFF2-40B4-BE49-F238E27FC236}">
                <a16:creationId xmlns:a16="http://schemas.microsoft.com/office/drawing/2014/main" id="{5BCB8CDE-F67C-DA2B-09B9-530A955E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782" y="5807075"/>
            <a:ext cx="1124905" cy="1336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3887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/>
          <p:nvPr/>
        </p:nvSpPr>
        <p:spPr>
          <a:xfrm>
            <a:off x="1942381" y="183404"/>
            <a:ext cx="9019208" cy="627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907"/>
              </a:lnSpc>
            </a:pPr>
            <a:endParaRPr lang="en-US" sz="5759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4C22805C-7D63-43C8-BD51-F4ACB8BEAA31}"/>
              </a:ext>
            </a:extLst>
          </p:cNvPr>
          <p:cNvCxnSpPr>
            <a:cxnSpLocks/>
          </p:cNvCxnSpPr>
          <p:nvPr/>
        </p:nvCxnSpPr>
        <p:spPr>
          <a:xfrm flipH="1">
            <a:off x="3976687" y="1036637"/>
            <a:ext cx="9463089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13D0-6E26-43FB-BD47-70B2F75E669A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B5D41CCB-F4F9-4CAC-9A70-CF227E1DA6B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79544" y="350837"/>
            <a:ext cx="8996255" cy="685800"/>
          </a:xfrm>
        </p:spPr>
        <p:txBody>
          <a:bodyPr>
            <a:normAutofit/>
          </a:bodyPr>
          <a:lstStyle/>
          <a:p>
            <a:pPr>
              <a:lnSpc>
                <a:spcPct val="68000"/>
              </a:lnSpc>
            </a:pPr>
            <a:r>
              <a:rPr lang="ru-RU" dirty="0"/>
              <a:t>Архитектура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rgbClr val="00A6FF"/>
                </a:solidFill>
              </a:rPr>
              <a:t>Jira</a:t>
            </a:r>
            <a:r>
              <a:rPr lang="en-US" dirty="0">
                <a:solidFill>
                  <a:srgbClr val="FF0040"/>
                </a:solidFill>
              </a:rPr>
              <a:t> Synergy</a:t>
            </a:r>
            <a:endParaRPr lang="ru-RU" dirty="0">
              <a:solidFill>
                <a:srgbClr val="FF0040"/>
              </a:solidFill>
            </a:endParaRPr>
          </a:p>
        </p:txBody>
      </p:sp>
      <p:grpSp>
        <p:nvGrpSpPr>
          <p:cNvPr id="7" name="Группа 6"/>
          <p:cNvGrpSpPr/>
          <p:nvPr/>
        </p:nvGrpSpPr>
        <p:grpSpPr>
          <a:xfrm>
            <a:off x="547688" y="3085015"/>
            <a:ext cx="11679809" cy="2295021"/>
            <a:chOff x="340810" y="2389345"/>
            <a:chExt cx="10561463" cy="2075272"/>
          </a:xfrm>
        </p:grpSpPr>
        <p:sp>
          <p:nvSpPr>
            <p:cNvPr id="10" name="Скругленный прямоугольник 9"/>
            <p:cNvSpPr/>
            <p:nvPr/>
          </p:nvSpPr>
          <p:spPr>
            <a:xfrm>
              <a:off x="4656393" y="3431060"/>
              <a:ext cx="1860403" cy="1033557"/>
            </a:xfrm>
            <a:prstGeom prst="roundRect">
              <a:avLst>
                <a:gd name="adj" fmla="val 15470"/>
              </a:avLst>
            </a:prstGeom>
            <a:solidFill>
              <a:srgbClr val="F6F6F6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sz="2000" dirty="0">
                  <a:solidFill>
                    <a:srgbClr val="00A6FF"/>
                  </a:solidFill>
                </a:rPr>
                <a:t>Jira</a:t>
              </a:r>
              <a:r>
                <a:rPr lang="en-US" sz="2000" dirty="0">
                  <a:solidFill>
                    <a:schemeClr val="tx1"/>
                  </a:solidFill>
                </a:rPr>
                <a:t> </a:t>
              </a:r>
              <a:r>
                <a:rPr lang="en-US" sz="20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Synergy</a:t>
              </a: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T Norms Regular"/>
                <a:ea typeface="+mn-ea"/>
                <a:cs typeface="+mn-cs"/>
              </a:endParaRPr>
            </a:p>
          </p:txBody>
        </p:sp>
        <p:sp>
          <p:nvSpPr>
            <p:cNvPr id="13" name="Скругленный прямоугольник 12"/>
            <p:cNvSpPr/>
            <p:nvPr/>
          </p:nvSpPr>
          <p:spPr>
            <a:xfrm>
              <a:off x="340810" y="2389345"/>
              <a:ext cx="2474287" cy="639440"/>
            </a:xfrm>
            <a:prstGeom prst="roundRect">
              <a:avLst/>
            </a:prstGeom>
            <a:noFill/>
            <a:ln w="19050">
              <a:solidFill>
                <a:srgbClr val="FF00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T Norms Regular"/>
                <a:ea typeface="+mn-ea"/>
                <a:cs typeface="+mn-cs"/>
              </a:endParaRPr>
            </a:p>
          </p:txBody>
        </p:sp>
        <p:sp>
          <p:nvSpPr>
            <p:cNvPr id="14" name="Text 51"/>
            <p:cNvSpPr/>
            <p:nvPr/>
          </p:nvSpPr>
          <p:spPr>
            <a:xfrm>
              <a:off x="4238406" y="3610261"/>
              <a:ext cx="1348188" cy="1716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ctr" defTabSz="457200" rtl="0" eaLnBrk="1" fontAlgn="auto" latinLnBrk="0" hangingPunct="1">
                <a:lnSpc>
                  <a:spcPts val="733"/>
                </a:lnSpc>
                <a:spcBef>
                  <a:spcPts val="0"/>
                </a:spcBef>
                <a:spcAft>
                  <a:spcPts val="797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0" i="0" u="none" strike="noStrike" kern="0" cap="none" spc="-44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T Norms Regular" panose="02000503030000020003" pitchFamily="2" charset="-52"/>
                  <a:ea typeface="TT Norms Pro Regular" pitchFamily="34" charset="-122"/>
                  <a:cs typeface="TT Norms Pro Regular" pitchFamily="34" charset="-120"/>
                </a:rPr>
                <a:t> 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T Norms Regular"/>
                <a:ea typeface="+mn-ea"/>
                <a:cs typeface="+mn-cs"/>
              </a:endParaRPr>
            </a:p>
          </p:txBody>
        </p:sp>
        <p:sp>
          <p:nvSpPr>
            <p:cNvPr id="16" name="Скругленный прямоугольник 15"/>
            <p:cNvSpPr/>
            <p:nvPr/>
          </p:nvSpPr>
          <p:spPr>
            <a:xfrm>
              <a:off x="8434586" y="2389345"/>
              <a:ext cx="2467687" cy="639440"/>
            </a:xfrm>
            <a:prstGeom prst="roundRect">
              <a:avLst/>
            </a:prstGeom>
            <a:noFill/>
            <a:ln w="19050">
              <a:solidFill>
                <a:srgbClr val="FF00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T Norms Regular"/>
                <a:ea typeface="+mn-ea"/>
                <a:cs typeface="+mn-cs"/>
              </a:endParaRPr>
            </a:p>
          </p:txBody>
        </p:sp>
        <p:sp>
          <p:nvSpPr>
            <p:cNvPr id="18" name="Скругленный прямоугольник 17"/>
            <p:cNvSpPr/>
            <p:nvPr/>
          </p:nvSpPr>
          <p:spPr>
            <a:xfrm>
              <a:off x="8418175" y="3625703"/>
              <a:ext cx="2467687" cy="625651"/>
            </a:xfrm>
            <a:prstGeom prst="roundRect">
              <a:avLst/>
            </a:prstGeom>
            <a:noFill/>
            <a:ln w="19050">
              <a:solidFill>
                <a:srgbClr val="FF00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T Norms Regular"/>
                <a:ea typeface="+mn-ea"/>
                <a:cs typeface="+mn-cs"/>
              </a:endParaRPr>
            </a:p>
          </p:txBody>
        </p:sp>
        <p:cxnSp>
          <p:nvCxnSpPr>
            <p:cNvPr id="23" name="Соединительная линия уступом 22"/>
            <p:cNvCxnSpPr>
              <a:cxnSpLocks/>
              <a:stCxn id="10" idx="0"/>
              <a:endCxn id="13" idx="3"/>
            </p:cNvCxnSpPr>
            <p:nvPr/>
          </p:nvCxnSpPr>
          <p:spPr>
            <a:xfrm rot="16200000" flipV="1">
              <a:off x="3839849" y="1684313"/>
              <a:ext cx="721995" cy="2771497"/>
            </a:xfrm>
            <a:prstGeom prst="bentConnector2">
              <a:avLst/>
            </a:prstGeom>
            <a:ln w="15875">
              <a:solidFill>
                <a:srgbClr val="FF004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 стрелкой 24"/>
            <p:cNvCxnSpPr>
              <a:cxnSpLocks/>
              <a:stCxn id="10" idx="3"/>
              <a:endCxn id="18" idx="1"/>
            </p:cNvCxnSpPr>
            <p:nvPr/>
          </p:nvCxnSpPr>
          <p:spPr>
            <a:xfrm flipV="1">
              <a:off x="6516796" y="3938529"/>
              <a:ext cx="1901379" cy="9309"/>
            </a:xfrm>
            <a:prstGeom prst="straightConnector1">
              <a:avLst/>
            </a:prstGeom>
            <a:ln w="15875">
              <a:solidFill>
                <a:srgbClr val="FF004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 стрелкой 25"/>
            <p:cNvCxnSpPr>
              <a:cxnSpLocks/>
              <a:stCxn id="10" idx="0"/>
              <a:endCxn id="16" idx="1"/>
            </p:cNvCxnSpPr>
            <p:nvPr/>
          </p:nvCxnSpPr>
          <p:spPr>
            <a:xfrm rot="5400000" flipH="1" flipV="1">
              <a:off x="6649592" y="1646067"/>
              <a:ext cx="721995" cy="2847991"/>
            </a:xfrm>
            <a:prstGeom prst="bentConnector2">
              <a:avLst/>
            </a:prstGeom>
            <a:ln w="15875">
              <a:solidFill>
                <a:srgbClr val="FF004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579545" y="1213686"/>
            <a:ext cx="56170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800"/>
              </a:spcBef>
              <a:defRPr/>
            </a:pPr>
            <a:r>
              <a:rPr lang="ru-RU" sz="2000" dirty="0">
                <a:solidFill>
                  <a:prstClr val="black"/>
                </a:solidFill>
                <a:latin typeface="TT Norms Medium"/>
              </a:rPr>
              <a:t>Ядро системы объединяет клиентский интерфейс, серверную логику, канал реального времени и хранилище данных</a:t>
            </a:r>
            <a:endParaRPr kumimoji="0" lang="ru-RU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Norms Medium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68470" y="1244546"/>
            <a:ext cx="56429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800"/>
              </a:spcBef>
              <a:defRPr/>
            </a:pPr>
            <a:r>
              <a:rPr lang="ru-RU" sz="2000" dirty="0">
                <a:solidFill>
                  <a:prstClr val="black"/>
                </a:solidFill>
                <a:latin typeface="TT Norms Medium"/>
              </a:rPr>
              <a:t>Все компоненты развёртываются в едином окружении (в т.ч. </a:t>
            </a:r>
            <a:r>
              <a:rPr lang="ru-RU" sz="2000" dirty="0" err="1">
                <a:solidFill>
                  <a:prstClr val="black"/>
                </a:solidFill>
                <a:latin typeface="TT Norms Medium"/>
              </a:rPr>
              <a:t>Docker</a:t>
            </a:r>
            <a:r>
              <a:rPr lang="ru-RU" sz="2000" dirty="0">
                <a:solidFill>
                  <a:prstClr val="black"/>
                </a:solidFill>
                <a:latin typeface="TT Norms Medium"/>
              </a:rPr>
              <a:t>); связи — по протоколам HTTP, </a:t>
            </a:r>
            <a:r>
              <a:rPr lang="ru-RU" sz="2000" dirty="0" err="1">
                <a:solidFill>
                  <a:prstClr val="black"/>
                </a:solidFill>
                <a:latin typeface="TT Norms Medium"/>
              </a:rPr>
              <a:t>WebSocket</a:t>
            </a:r>
            <a:r>
              <a:rPr lang="ru-RU" sz="2000" dirty="0">
                <a:solidFill>
                  <a:prstClr val="black"/>
                </a:solidFill>
                <a:latin typeface="TT Norms Medium"/>
              </a:rPr>
              <a:t>, доступ к БД через ORM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Norms Medium"/>
              <a:ea typeface="+mn-ea"/>
              <a:cs typeface="+mn-cs"/>
            </a:endParaRPr>
          </a:p>
        </p:txBody>
      </p:sp>
      <p:sp>
        <p:nvSpPr>
          <p:cNvPr id="47" name="Скругленный прямоугольник 12">
            <a:extLst>
              <a:ext uri="{FF2B5EF4-FFF2-40B4-BE49-F238E27FC236}">
                <a16:creationId xmlns:a16="http://schemas.microsoft.com/office/drawing/2014/main" id="{616F056C-C473-208E-82B8-6EC01C6AC630}"/>
              </a:ext>
            </a:extLst>
          </p:cNvPr>
          <p:cNvSpPr/>
          <p:nvPr/>
        </p:nvSpPr>
        <p:spPr>
          <a:xfrm>
            <a:off x="547688" y="5837238"/>
            <a:ext cx="2736284" cy="685800"/>
          </a:xfrm>
          <a:prstGeom prst="roundRect">
            <a:avLst/>
          </a:prstGeom>
          <a:noFill/>
          <a:ln w="19050">
            <a:solidFill>
              <a:srgbClr val="FF0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T Norms Regular"/>
              <a:ea typeface="+mn-ea"/>
              <a:cs typeface="+mn-cs"/>
            </a:endParaRPr>
          </a:p>
        </p:txBody>
      </p:sp>
      <p:sp>
        <p:nvSpPr>
          <p:cNvPr id="48" name="Скругленный прямоугольник 12">
            <a:extLst>
              <a:ext uri="{FF2B5EF4-FFF2-40B4-BE49-F238E27FC236}">
                <a16:creationId xmlns:a16="http://schemas.microsoft.com/office/drawing/2014/main" id="{0A6C043F-0022-2C45-E5B1-54754B9B6B45}"/>
              </a:ext>
            </a:extLst>
          </p:cNvPr>
          <p:cNvSpPr/>
          <p:nvPr/>
        </p:nvSpPr>
        <p:spPr>
          <a:xfrm>
            <a:off x="547688" y="4459533"/>
            <a:ext cx="2736285" cy="691904"/>
          </a:xfrm>
          <a:prstGeom prst="roundRect">
            <a:avLst/>
          </a:prstGeom>
          <a:noFill/>
          <a:ln w="19050">
            <a:solidFill>
              <a:srgbClr val="FF0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T Norms Regular"/>
              <a:ea typeface="+mn-ea"/>
              <a:cs typeface="+mn-cs"/>
            </a:endParaRPr>
          </a:p>
        </p:txBody>
      </p:sp>
      <p:cxnSp>
        <p:nvCxnSpPr>
          <p:cNvPr id="49" name="Соединительная линия уступом 22">
            <a:extLst>
              <a:ext uri="{FF2B5EF4-FFF2-40B4-BE49-F238E27FC236}">
                <a16:creationId xmlns:a16="http://schemas.microsoft.com/office/drawing/2014/main" id="{8B006A55-047C-C77E-008B-D13A94234457}"/>
              </a:ext>
            </a:extLst>
          </p:cNvPr>
          <p:cNvCxnSpPr>
            <a:cxnSpLocks/>
            <a:stCxn id="10" idx="2"/>
            <a:endCxn id="47" idx="3"/>
          </p:cNvCxnSpPr>
          <p:nvPr/>
        </p:nvCxnSpPr>
        <p:spPr>
          <a:xfrm rot="5400000">
            <a:off x="4416408" y="4247601"/>
            <a:ext cx="800102" cy="3064973"/>
          </a:xfrm>
          <a:prstGeom prst="bentConnector2">
            <a:avLst/>
          </a:prstGeom>
          <a:ln w="15875">
            <a:solidFill>
              <a:srgbClr val="FF0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id="{55D994A1-66A7-477F-AE95-547FA910F949}"/>
              </a:ext>
            </a:extLst>
          </p:cNvPr>
          <p:cNvCxnSpPr>
            <a:cxnSpLocks/>
            <a:stCxn id="10" idx="1"/>
            <a:endCxn id="48" idx="3"/>
          </p:cNvCxnSpPr>
          <p:nvPr/>
        </p:nvCxnSpPr>
        <p:spPr>
          <a:xfrm flipH="1" flipV="1">
            <a:off x="3283973" y="4805485"/>
            <a:ext cx="2036272" cy="3051"/>
          </a:xfrm>
          <a:prstGeom prst="straightConnector1">
            <a:avLst/>
          </a:prstGeom>
          <a:ln w="15875">
            <a:solidFill>
              <a:srgbClr val="FF0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Скругленный прямоугольник 17">
            <a:extLst>
              <a:ext uri="{FF2B5EF4-FFF2-40B4-BE49-F238E27FC236}">
                <a16:creationId xmlns:a16="http://schemas.microsoft.com/office/drawing/2014/main" id="{57DF5EBB-4302-63E0-F47C-78CABACE9964}"/>
              </a:ext>
            </a:extLst>
          </p:cNvPr>
          <p:cNvSpPr/>
          <p:nvPr/>
        </p:nvSpPr>
        <p:spPr>
          <a:xfrm>
            <a:off x="9445756" y="5837238"/>
            <a:ext cx="2744358" cy="685800"/>
          </a:xfrm>
          <a:prstGeom prst="roundRect">
            <a:avLst/>
          </a:prstGeom>
          <a:noFill/>
          <a:ln w="19050">
            <a:solidFill>
              <a:srgbClr val="FF0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T Norms Regular"/>
              <a:ea typeface="+mn-ea"/>
              <a:cs typeface="+mn-cs"/>
            </a:endParaRPr>
          </a:p>
        </p:txBody>
      </p:sp>
      <p:cxnSp>
        <p:nvCxnSpPr>
          <p:cNvPr id="74" name="Соединительная линия уступом 22">
            <a:extLst>
              <a:ext uri="{FF2B5EF4-FFF2-40B4-BE49-F238E27FC236}">
                <a16:creationId xmlns:a16="http://schemas.microsoft.com/office/drawing/2014/main" id="{05FB15E6-3BC4-AEF7-AC2F-91899B5E5D0F}"/>
              </a:ext>
            </a:extLst>
          </p:cNvPr>
          <p:cNvCxnSpPr>
            <a:cxnSpLocks/>
            <a:stCxn id="10" idx="2"/>
            <a:endCxn id="73" idx="1"/>
          </p:cNvCxnSpPr>
          <p:nvPr/>
        </p:nvCxnSpPr>
        <p:spPr>
          <a:xfrm rot="16200000" flipH="1">
            <a:off x="7497299" y="4231681"/>
            <a:ext cx="800102" cy="3096811"/>
          </a:xfrm>
          <a:prstGeom prst="bentConnector2">
            <a:avLst/>
          </a:prstGeom>
          <a:ln w="15875">
            <a:solidFill>
              <a:srgbClr val="FF0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7134DB24-66DF-234E-4707-8C3B4AAD66E0}"/>
              </a:ext>
            </a:extLst>
          </p:cNvPr>
          <p:cNvSpPr txBox="1"/>
          <p:nvPr/>
        </p:nvSpPr>
        <p:spPr>
          <a:xfrm>
            <a:off x="776287" y="3155223"/>
            <a:ext cx="2736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Клиент (Next.js, </a:t>
            </a:r>
            <a:r>
              <a:rPr lang="ru-RU" sz="1600" dirty="0" err="1"/>
              <a:t>React</a:t>
            </a:r>
            <a:r>
              <a:rPr lang="ru-RU" sz="1600" dirty="0"/>
              <a:t>)  интерфейс в браузере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407AAEB-C854-BFEC-8E13-DDD37F93E055}"/>
              </a:ext>
            </a:extLst>
          </p:cNvPr>
          <p:cNvSpPr txBox="1"/>
          <p:nvPr/>
        </p:nvSpPr>
        <p:spPr>
          <a:xfrm>
            <a:off x="9528035" y="3170237"/>
            <a:ext cx="2744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REST API — запросы данных, создание/обновление задач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2F16B2C-B7FA-06E1-7628-2CC2A32A0889}"/>
              </a:ext>
            </a:extLst>
          </p:cNvPr>
          <p:cNvSpPr txBox="1"/>
          <p:nvPr/>
        </p:nvSpPr>
        <p:spPr>
          <a:xfrm>
            <a:off x="547688" y="4459537"/>
            <a:ext cx="27362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Socket.io — </a:t>
            </a:r>
            <a:r>
              <a:rPr lang="ru-RU" sz="1600" dirty="0"/>
              <a:t>синхронизация</a:t>
            </a:r>
            <a:r>
              <a:rPr lang="ru-RU" dirty="0"/>
              <a:t> в реальном времени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379CDD8-5E0B-33D0-C178-350D6825B621}"/>
              </a:ext>
            </a:extLst>
          </p:cNvPr>
          <p:cNvSpPr txBox="1"/>
          <p:nvPr/>
        </p:nvSpPr>
        <p:spPr>
          <a:xfrm>
            <a:off x="9427844" y="4513097"/>
            <a:ext cx="2744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err="1"/>
              <a:t>Prisma</a:t>
            </a:r>
            <a:r>
              <a:rPr lang="ru-RU" sz="1600" dirty="0"/>
              <a:t> ORM — работа с данными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F532019-31FD-B2AC-1619-193FF42A0015}"/>
              </a:ext>
            </a:extLst>
          </p:cNvPr>
          <p:cNvSpPr txBox="1"/>
          <p:nvPr/>
        </p:nvSpPr>
        <p:spPr>
          <a:xfrm>
            <a:off x="700087" y="5989637"/>
            <a:ext cx="27362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PostgreSQL — </a:t>
            </a:r>
            <a:r>
              <a:rPr lang="ru-RU" sz="1600" dirty="0"/>
              <a:t>база данных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153B8778-A81E-176A-DC29-FB8D6800AEBC}"/>
              </a:ext>
            </a:extLst>
          </p:cNvPr>
          <p:cNvSpPr txBox="1"/>
          <p:nvPr/>
        </p:nvSpPr>
        <p:spPr>
          <a:xfrm>
            <a:off x="9457371" y="5887750"/>
            <a:ext cx="2744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Docker — </a:t>
            </a:r>
            <a:r>
              <a:rPr lang="ru-RU" sz="1600" dirty="0"/>
              <a:t>окружение развёртывания</a:t>
            </a:r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5851374D-6DFF-50C6-45A4-4D8763AF7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887" y="3054852"/>
            <a:ext cx="1371600" cy="7715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Рисунок 126" descr="Изображение выглядит как Шрифт, Графика, логотип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F6CF480-3670-2089-D97D-00F5D00CD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4451" y="3024126"/>
            <a:ext cx="1064408" cy="7540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5124" name="Picture 4" descr="Picture background">
            <a:extLst>
              <a:ext uri="{FF2B5EF4-FFF2-40B4-BE49-F238E27FC236}">
                <a16:creationId xmlns:a16="http://schemas.microsoft.com/office/drawing/2014/main" id="{1385954D-610F-2568-9FB1-7442C9068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887" y="4402914"/>
            <a:ext cx="1271923" cy="71545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8" descr="Picture background">
            <a:extLst>
              <a:ext uri="{FF2B5EF4-FFF2-40B4-BE49-F238E27FC236}">
                <a16:creationId xmlns:a16="http://schemas.microsoft.com/office/drawing/2014/main" id="{07306721-F421-B604-B98C-7CA761F7A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5437" y="4444667"/>
            <a:ext cx="1374258" cy="68713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6" name="Picture 12" descr="Picture background">
            <a:extLst>
              <a:ext uri="{FF2B5EF4-FFF2-40B4-BE49-F238E27FC236}">
                <a16:creationId xmlns:a16="http://schemas.microsoft.com/office/drawing/2014/main" id="{F27C417E-013A-DB70-945E-E9F8444FD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578" y="5748654"/>
            <a:ext cx="1371601" cy="7715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7" name="Picture 14" descr="Picture background">
            <a:extLst>
              <a:ext uri="{FF2B5EF4-FFF2-40B4-BE49-F238E27FC236}">
                <a16:creationId xmlns:a16="http://schemas.microsoft.com/office/drawing/2014/main" id="{41D93E45-3104-672F-F6C0-E06973FA3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0487" y="5767298"/>
            <a:ext cx="1676400" cy="7360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51" name="Рисунок 5150" descr="Изображение выглядит как текст, Шрифт, Цвет электрик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8244F20-FFD8-0210-E346-511CDD9D0B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32294" y="4005412"/>
            <a:ext cx="1033303" cy="5384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84211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4C22805C-7D63-43C8-BD51-F4ACB8BEAA31}"/>
              </a:ext>
            </a:extLst>
          </p:cNvPr>
          <p:cNvCxnSpPr>
            <a:cxnSpLocks/>
          </p:cNvCxnSpPr>
          <p:nvPr/>
        </p:nvCxnSpPr>
        <p:spPr>
          <a:xfrm flipH="1" flipV="1">
            <a:off x="4850871" y="1036637"/>
            <a:ext cx="8565910" cy="1321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B5D41CCB-F4F9-4CAC-9A70-CF227E1DA6B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7687" y="350837"/>
            <a:ext cx="8787761" cy="685800"/>
          </a:xfrm>
        </p:spPr>
        <p:txBody>
          <a:bodyPr>
            <a:normAutofit/>
          </a:bodyPr>
          <a:lstStyle/>
          <a:p>
            <a:pPr>
              <a:lnSpc>
                <a:spcPct val="68000"/>
              </a:lnSpc>
            </a:pPr>
            <a:r>
              <a:rPr lang="ru-RU" dirty="0"/>
              <a:t>Экономическая </a:t>
            </a:r>
            <a:r>
              <a:rPr lang="ru-RU" dirty="0">
                <a:solidFill>
                  <a:srgbClr val="FF0040"/>
                </a:solidFill>
              </a:rPr>
              <a:t>эффективность</a:t>
            </a:r>
          </a:p>
        </p:txBody>
      </p:sp>
      <p:cxnSp>
        <p:nvCxnSpPr>
          <p:cNvPr id="33" name="Прямая со стрелкой 32"/>
          <p:cNvCxnSpPr/>
          <p:nvPr/>
        </p:nvCxnSpPr>
        <p:spPr>
          <a:xfrm flipH="1" flipV="1">
            <a:off x="-2427006" y="3729636"/>
            <a:ext cx="216332" cy="236544"/>
          </a:xfrm>
          <a:prstGeom prst="straightConnector1">
            <a:avLst/>
          </a:prstGeom>
          <a:ln>
            <a:solidFill>
              <a:srgbClr val="FF0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983389C-B5FC-6E47-817A-75BB18611EE4}"/>
              </a:ext>
            </a:extLst>
          </p:cNvPr>
          <p:cNvSpPr/>
          <p:nvPr/>
        </p:nvSpPr>
        <p:spPr>
          <a:xfrm>
            <a:off x="547687" y="1722437"/>
            <a:ext cx="6172200" cy="685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EFBD56-8E8F-0CF0-20E2-EEBA13A50D77}"/>
              </a:ext>
            </a:extLst>
          </p:cNvPr>
          <p:cNvSpPr txBox="1"/>
          <p:nvPr/>
        </p:nvSpPr>
        <p:spPr>
          <a:xfrm>
            <a:off x="1462087" y="1874837"/>
            <a:ext cx="8431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Трудоёмкость разработки: 300 человеко-часов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898BF2D-B358-A272-2409-D106B81F4D87}"/>
              </a:ext>
            </a:extLst>
          </p:cNvPr>
          <p:cNvSpPr/>
          <p:nvPr/>
        </p:nvSpPr>
        <p:spPr>
          <a:xfrm>
            <a:off x="577533" y="3094037"/>
            <a:ext cx="6142354" cy="6715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76D6A7-0A3A-4FB1-D57E-6010CA7AECDA}"/>
              </a:ext>
            </a:extLst>
          </p:cNvPr>
          <p:cNvSpPr txBox="1"/>
          <p:nvPr/>
        </p:nvSpPr>
        <p:spPr>
          <a:xfrm>
            <a:off x="1361118" y="3246437"/>
            <a:ext cx="7974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Единовременные затраты: 330 000 руб. (разработка)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6781DF8-4314-63C7-C25B-118BC0DAD060}"/>
              </a:ext>
            </a:extLst>
          </p:cNvPr>
          <p:cNvSpPr/>
          <p:nvPr/>
        </p:nvSpPr>
        <p:spPr>
          <a:xfrm>
            <a:off x="547687" y="4465638"/>
            <a:ext cx="6172200" cy="685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C45E32-955C-21CA-E6C2-2E5EA604D504}"/>
              </a:ext>
            </a:extLst>
          </p:cNvPr>
          <p:cNvSpPr txBox="1"/>
          <p:nvPr/>
        </p:nvSpPr>
        <p:spPr>
          <a:xfrm>
            <a:off x="1843087" y="4637642"/>
            <a:ext cx="7974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Эксплуатация: 18 000 руб./год (хостинг)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94310C9-CDC5-6225-337D-28A096ECE8D8}"/>
              </a:ext>
            </a:extLst>
          </p:cNvPr>
          <p:cNvSpPr/>
          <p:nvPr/>
        </p:nvSpPr>
        <p:spPr>
          <a:xfrm>
            <a:off x="547687" y="5837238"/>
            <a:ext cx="6172200" cy="685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Окупаемость: менее 2 лет</a:t>
            </a:r>
          </a:p>
        </p:txBody>
      </p:sp>
      <p:pic>
        <p:nvPicPr>
          <p:cNvPr id="26" name="Рисунок 25" descr="Группа со сплошной заливкой">
            <a:extLst>
              <a:ext uri="{FF2B5EF4-FFF2-40B4-BE49-F238E27FC236}">
                <a16:creationId xmlns:a16="http://schemas.microsoft.com/office/drawing/2014/main" id="{63D435D3-3B87-E194-3F79-377875213A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7" y="1707514"/>
            <a:ext cx="685800" cy="685800"/>
          </a:xfrm>
          <a:prstGeom prst="rect">
            <a:avLst/>
          </a:prstGeom>
        </p:spPr>
      </p:pic>
      <p:pic>
        <p:nvPicPr>
          <p:cNvPr id="28" name="Рисунок 27" descr="Деньги со сплошной заливкой">
            <a:extLst>
              <a:ext uri="{FF2B5EF4-FFF2-40B4-BE49-F238E27FC236}">
                <a16:creationId xmlns:a16="http://schemas.microsoft.com/office/drawing/2014/main" id="{9950A7A0-D271-4079-DBE3-44E5F9DA82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4784" y="3094671"/>
            <a:ext cx="655954" cy="655954"/>
          </a:xfrm>
          <a:prstGeom prst="rect">
            <a:avLst/>
          </a:prstGeom>
        </p:spPr>
      </p:pic>
      <p:pic>
        <p:nvPicPr>
          <p:cNvPr id="30" name="Рисунок 29" descr="Инструменты со сплошной заливкой">
            <a:extLst>
              <a:ext uri="{FF2B5EF4-FFF2-40B4-BE49-F238E27FC236}">
                <a16:creationId xmlns:a16="http://schemas.microsoft.com/office/drawing/2014/main" id="{88F67339-1518-D228-C031-B990F5CDB4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8238" y="4438938"/>
            <a:ext cx="712500" cy="712500"/>
          </a:xfrm>
          <a:prstGeom prst="rect">
            <a:avLst/>
          </a:prstGeom>
        </p:spPr>
      </p:pic>
      <p:pic>
        <p:nvPicPr>
          <p:cNvPr id="32" name="Рисунок 31" descr="Диаграмма с подъемом со сплошной заливкой">
            <a:extLst>
              <a:ext uri="{FF2B5EF4-FFF2-40B4-BE49-F238E27FC236}">
                <a16:creationId xmlns:a16="http://schemas.microsoft.com/office/drawing/2014/main" id="{9EBFC812-525C-5CDE-534C-3B309B6D3E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874" y="5837238"/>
            <a:ext cx="685800" cy="6858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D00B45C-E95C-AAB6-F5B2-230F3C7256E6}"/>
              </a:ext>
            </a:extLst>
          </p:cNvPr>
          <p:cNvSpPr txBox="1"/>
          <p:nvPr/>
        </p:nvSpPr>
        <p:spPr>
          <a:xfrm>
            <a:off x="7112317" y="1613227"/>
            <a:ext cx="55626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0070C0"/>
                </a:solidFill>
              </a:rPr>
              <a:t>Экономия за 3 года: 156 000руб из расчета команды 20 человек</a:t>
            </a:r>
          </a:p>
          <a:p>
            <a:endParaRPr lang="ru-RU" sz="2000" dirty="0"/>
          </a:p>
        </p:txBody>
      </p:sp>
      <p:pic>
        <p:nvPicPr>
          <p:cNvPr id="6154" name="Picture 10" descr="Picture background">
            <a:extLst>
              <a:ext uri="{FF2B5EF4-FFF2-40B4-BE49-F238E27FC236}">
                <a16:creationId xmlns:a16="http://schemas.microsoft.com/office/drawing/2014/main" id="{A9E99926-71BC-0A01-DCD3-E4895692C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087" y="3083055"/>
            <a:ext cx="5696903" cy="3439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Номер слайда 3">
            <a:extLst>
              <a:ext uri="{FF2B5EF4-FFF2-40B4-BE49-F238E27FC236}">
                <a16:creationId xmlns:a16="http://schemas.microsoft.com/office/drawing/2014/main" id="{E956DC7A-D6C6-B656-FB77-608BFB786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91841" y="7006699"/>
            <a:ext cx="3023949" cy="402483"/>
          </a:xfrm>
        </p:spPr>
        <p:txBody>
          <a:bodyPr/>
          <a:lstStyle/>
          <a:p>
            <a:fld id="{77D613D0-6E26-43FB-BD47-70B2F75E669A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161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2F1AF64E-8F75-42AA-8383-426D976824EB}"/>
              </a:ext>
            </a:extLst>
          </p:cNvPr>
          <p:cNvCxnSpPr>
            <a:cxnSpLocks/>
          </p:cNvCxnSpPr>
          <p:nvPr/>
        </p:nvCxnSpPr>
        <p:spPr>
          <a:xfrm>
            <a:off x="744193" y="6170068"/>
            <a:ext cx="12695582" cy="0"/>
          </a:xfrm>
          <a:prstGeom prst="line">
            <a:avLst/>
          </a:prstGeom>
          <a:ln w="28575">
            <a:solidFill>
              <a:srgbClr val="FF0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0"/>
          <p:cNvSpPr/>
          <p:nvPr/>
        </p:nvSpPr>
        <p:spPr>
          <a:xfrm>
            <a:off x="675251" y="4139948"/>
            <a:ext cx="9397435" cy="183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0000"/>
              </a:lnSpc>
            </a:pPr>
            <a:r>
              <a:rPr lang="ru-RU" sz="7000" kern="0" spc="-300" dirty="0">
                <a:latin typeface="TT Norms Regular" pitchFamily="34" charset="0"/>
                <a:ea typeface="TT Norms Regular" pitchFamily="34" charset="-122"/>
                <a:cs typeface="TT Norms Regular" pitchFamily="34" charset="-120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ru-RU" sz="7000" kern="0" spc="-300" dirty="0">
                <a:latin typeface="TT Norms Regular" pitchFamily="34" charset="0"/>
                <a:ea typeface="TT Norms Regular" pitchFamily="34" charset="-122"/>
                <a:cs typeface="TT Norms Regular" pitchFamily="34" charset="-120"/>
              </a:rPr>
              <a:t>Благодарю </a:t>
            </a:r>
            <a:r>
              <a:rPr lang="ru-RU" sz="7000" kern="0" spc="-300" dirty="0">
                <a:solidFill>
                  <a:srgbClr val="FF004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rPr>
              <a:t>за внимание</a:t>
            </a: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31494" y="6502398"/>
            <a:ext cx="363457" cy="363513"/>
          </a:xfrm>
          <a:prstGeom prst="rect">
            <a:avLst/>
          </a:prstGeom>
        </p:spPr>
      </p:pic>
      <p:sp>
        <p:nvSpPr>
          <p:cNvPr id="11" name="Freeform 5">
            <a:extLst>
              <a:ext uri="{FF2B5EF4-FFF2-40B4-BE49-F238E27FC236}">
                <a16:creationId xmlns:a16="http://schemas.microsoft.com/office/drawing/2014/main" id="{ACE4B178-0BDF-49B9-93C7-50175F2D1893}"/>
              </a:ext>
            </a:extLst>
          </p:cNvPr>
          <p:cNvSpPr>
            <a:spLocks/>
          </p:cNvSpPr>
          <p:nvPr/>
        </p:nvSpPr>
        <p:spPr bwMode="auto">
          <a:xfrm>
            <a:off x="8434815" y="-1049654"/>
            <a:ext cx="5004960" cy="9803130"/>
          </a:xfrm>
          <a:custGeom>
            <a:avLst/>
            <a:gdLst>
              <a:gd name="T0" fmla="*/ 1549 w 1549"/>
              <a:gd name="T1" fmla="*/ 2031 h 3034"/>
              <a:gd name="T2" fmla="*/ 1049 w 1549"/>
              <a:gd name="T3" fmla="*/ 1517 h 3034"/>
              <a:gd name="T4" fmla="*/ 1549 w 1549"/>
              <a:gd name="T5" fmla="*/ 1003 h 3034"/>
              <a:gd name="T6" fmla="*/ 1549 w 1549"/>
              <a:gd name="T7" fmla="*/ 0 h 3034"/>
              <a:gd name="T8" fmla="*/ 0 w 1549"/>
              <a:gd name="T9" fmla="*/ 1517 h 3034"/>
              <a:gd name="T10" fmla="*/ 1549 w 1549"/>
              <a:gd name="T11" fmla="*/ 3034 h 3034"/>
              <a:gd name="T12" fmla="*/ 1549 w 1549"/>
              <a:gd name="T13" fmla="*/ 2031 h 3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49" h="3034">
                <a:moveTo>
                  <a:pt x="1549" y="2031"/>
                </a:moveTo>
                <a:lnTo>
                  <a:pt x="1049" y="1517"/>
                </a:lnTo>
                <a:lnTo>
                  <a:pt x="1549" y="1003"/>
                </a:lnTo>
                <a:lnTo>
                  <a:pt x="1549" y="0"/>
                </a:lnTo>
                <a:lnTo>
                  <a:pt x="0" y="1517"/>
                </a:lnTo>
                <a:lnTo>
                  <a:pt x="1549" y="3034"/>
                </a:lnTo>
                <a:lnTo>
                  <a:pt x="1549" y="20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63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99" y="477896"/>
            <a:ext cx="2870348" cy="298465"/>
          </a:xfrm>
          <a:prstGeom prst="rect">
            <a:avLst/>
          </a:prstGeom>
        </p:spPr>
      </p:pic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39B082F-9FBD-2231-106B-08F398901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91841" y="7006699"/>
            <a:ext cx="3023949" cy="402483"/>
          </a:xfrm>
        </p:spPr>
        <p:txBody>
          <a:bodyPr/>
          <a:lstStyle/>
          <a:p>
            <a:fld id="{77D613D0-6E26-43FB-BD47-70B2F75E669A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2967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TT Norms Medium"/>
        <a:ea typeface=""/>
        <a:cs typeface=""/>
      </a:majorFont>
      <a:minorFont>
        <a:latin typeface="TT Norms Regular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9311</TotalTime>
  <Words>661</Words>
  <Application>Microsoft Office PowerPoint</Application>
  <PresentationFormat>Произвольный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Consolas</vt:lpstr>
      <vt:lpstr>Gotham Pro Medium</vt:lpstr>
      <vt:lpstr>TT Norms Bold</vt:lpstr>
      <vt:lpstr>TT Norms Medium</vt:lpstr>
      <vt:lpstr>TT Norms Regular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Теоретические аспекты</vt:lpstr>
      <vt:lpstr>Разработка веб-приложения</vt:lpstr>
      <vt:lpstr>Архитектура Jira Synergy</vt:lpstr>
      <vt:lpstr>Экономическая эффективность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Александр Пастьбин</cp:lastModifiedBy>
  <cp:revision>772</cp:revision>
  <cp:lastPrinted>2023-01-31T15:18:13Z</cp:lastPrinted>
  <dcterms:created xsi:type="dcterms:W3CDTF">2022-08-02T06:53:33Z</dcterms:created>
  <dcterms:modified xsi:type="dcterms:W3CDTF">2026-02-25T10:42:21Z</dcterms:modified>
</cp:coreProperties>
</file>